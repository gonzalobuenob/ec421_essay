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93" r:id="rId5"/>
    <p:sldId id="267" r:id="rId6"/>
    <p:sldId id="268" r:id="rId7"/>
    <p:sldId id="269" r:id="rId8"/>
    <p:sldId id="270" r:id="rId9"/>
    <p:sldId id="271" r:id="rId10"/>
    <p:sldId id="272" r:id="rId11"/>
    <p:sldId id="273" r:id="rId12"/>
    <p:sldId id="274" r:id="rId13"/>
    <p:sldId id="276" r:id="rId14"/>
    <p:sldId id="277" r:id="rId15"/>
    <p:sldId id="278" r:id="rId16"/>
    <p:sldId id="279" r:id="rId17"/>
    <p:sldId id="280" r:id="rId18"/>
    <p:sldId id="282" r:id="rId19"/>
    <p:sldId id="285" r:id="rId20"/>
    <p:sldId id="286" r:id="rId21"/>
    <p:sldId id="289" r:id="rId22"/>
    <p:sldId id="290" r:id="rId23"/>
    <p:sldId id="287"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7367" autoAdjust="0"/>
    <p:restoredTop sz="94619" autoAdjust="0"/>
  </p:normalViewPr>
  <p:slideViewPr>
    <p:cSldViewPr snapToGrid="0">
      <p:cViewPr varScale="1">
        <p:scale>
          <a:sx n="64" d="100"/>
          <a:sy n="64" d="100"/>
        </p:scale>
        <p:origin x="276" y="48"/>
      </p:cViewPr>
      <p:guideLst/>
    </p:cSldViewPr>
  </p:slideViewPr>
  <p:notesTextViewPr>
    <p:cViewPr>
      <p:scale>
        <a:sx n="1" d="1"/>
        <a:sy n="1" d="1"/>
      </p:scale>
      <p:origin x="0" y="0"/>
    </p:cViewPr>
  </p:notesTextViewPr>
  <p:sorterViewPr>
    <p:cViewPr>
      <p:scale>
        <a:sx n="100" d="100"/>
        <a:sy n="100" d="100"/>
      </p:scale>
      <p:origin x="0" y="-760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11/18/2025</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872932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11/18/2025</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389807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11/18/2025</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223314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11/18/2025</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576118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11/18/2025</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028083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11/18/2025</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017711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11/18/2025</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507016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11/18/2025</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8013020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11/18/2025</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588268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900">
                <a:solidFill>
                  <a:srgbClr val="FFFFFF"/>
                </a:solidFill>
              </a:defRPr>
            </a:lvl1pPr>
          </a:lstStyle>
          <a:p>
            <a:fld id="{62D6E202-B606-4609-B914-27C9371A1F6D}" type="datetime1">
              <a:rPr lang="en-US" smtClean="0"/>
              <a:t>11/18/2025</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9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60147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sz="46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A6A4E-35B3-D5A5-3238-81733BE662F4}"/>
              </a:ext>
            </a:extLst>
          </p:cNvPr>
          <p:cNvSpPr>
            <a:spLocks noGrp="1"/>
          </p:cNvSpPr>
          <p:nvPr>
            <p:ph type="title"/>
          </p:nvPr>
        </p:nvSpPr>
        <p:spPr/>
        <p:txBody>
          <a:bodyPr>
            <a:normAutofit/>
          </a:bodyPr>
          <a:lstStyle/>
          <a:p>
            <a:r>
              <a:rPr lang="en-GB" sz="4400" dirty="0"/>
              <a:t>EC421 Extended Essay: Information Session</a:t>
            </a:r>
          </a:p>
        </p:txBody>
      </p:sp>
      <p:sp>
        <p:nvSpPr>
          <p:cNvPr id="3" name="Content Placeholder 2">
            <a:extLst>
              <a:ext uri="{FF2B5EF4-FFF2-40B4-BE49-F238E27FC236}">
                <a16:creationId xmlns:a16="http://schemas.microsoft.com/office/drawing/2014/main" id="{B398872E-8E41-233F-D72E-46E4AEC0C6E0}"/>
              </a:ext>
            </a:extLst>
          </p:cNvPr>
          <p:cNvSpPr>
            <a:spLocks noGrp="1"/>
          </p:cNvSpPr>
          <p:nvPr>
            <p:ph idx="1"/>
          </p:nvPr>
        </p:nvSpPr>
        <p:spPr/>
        <p:txBody>
          <a:bodyPr>
            <a:normAutofit/>
          </a:bodyPr>
          <a:lstStyle/>
          <a:p>
            <a:pPr algn="ctr"/>
            <a:endParaRPr lang="en-GB" sz="3600" dirty="0"/>
          </a:p>
          <a:p>
            <a:pPr algn="ctr"/>
            <a:r>
              <a:rPr lang="en-GB" sz="3600" dirty="0"/>
              <a:t>Thomas Sampson</a:t>
            </a:r>
          </a:p>
          <a:p>
            <a:pPr algn="ctr"/>
            <a:r>
              <a:rPr lang="en-GB" sz="3600" dirty="0"/>
              <a:t>Dmitry Mukhin</a:t>
            </a:r>
          </a:p>
        </p:txBody>
      </p:sp>
    </p:spTree>
    <p:extLst>
      <p:ext uri="{BB962C8B-B14F-4D97-AF65-F5344CB8AC3E}">
        <p14:creationId xmlns:p14="http://schemas.microsoft.com/office/powerpoint/2010/main" val="31754174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4112B-7C22-406E-911F-772FB3B3020A}"/>
              </a:ext>
            </a:extLst>
          </p:cNvPr>
          <p:cNvSpPr>
            <a:spLocks noGrp="1"/>
          </p:cNvSpPr>
          <p:nvPr>
            <p:ph type="title"/>
          </p:nvPr>
        </p:nvSpPr>
        <p:spPr/>
        <p:txBody>
          <a:bodyPr>
            <a:normAutofit/>
          </a:bodyPr>
          <a:lstStyle/>
          <a:p>
            <a:r>
              <a:rPr lang="en-GB" sz="3000" b="0" i="0" u="none" strike="noStrike" baseline="0" dirty="0">
                <a:solidFill>
                  <a:srgbClr val="3333B3"/>
                </a:solidFill>
                <a:latin typeface="+mn-lt"/>
              </a:rPr>
              <a:t>Goals of the Essay: Important but limited</a:t>
            </a:r>
            <a:endParaRPr lang="en-GB" sz="3000" dirty="0">
              <a:latin typeface="+mn-lt"/>
            </a:endParaRPr>
          </a:p>
        </p:txBody>
      </p:sp>
      <p:sp>
        <p:nvSpPr>
          <p:cNvPr id="3" name="Content Placeholder 2">
            <a:extLst>
              <a:ext uri="{FF2B5EF4-FFF2-40B4-BE49-F238E27FC236}">
                <a16:creationId xmlns:a16="http://schemas.microsoft.com/office/drawing/2014/main" id="{C6C9A5C7-8FEF-477D-BB8C-221AB00F1F27}"/>
              </a:ext>
            </a:extLst>
          </p:cNvPr>
          <p:cNvSpPr>
            <a:spLocks noGrp="1"/>
          </p:cNvSpPr>
          <p:nvPr>
            <p:ph idx="1"/>
          </p:nvPr>
        </p:nvSpPr>
        <p:spPr/>
        <p:txBody>
          <a:bodyPr>
            <a:normAutofit/>
          </a:bodyPr>
          <a:lstStyle/>
          <a:p>
            <a:r>
              <a:rPr lang="en-GB" dirty="0"/>
              <a:t>It is not a Master’s dissertation or a Master’s thesis – it’s an essay</a:t>
            </a:r>
          </a:p>
          <a:p>
            <a:r>
              <a:rPr lang="en-GB" dirty="0"/>
              <a:t>An extremely valuable opportunity to:</a:t>
            </a:r>
          </a:p>
          <a:p>
            <a:r>
              <a:rPr lang="en-GB" dirty="0"/>
              <a:t>• See if you can write like an economist; and</a:t>
            </a:r>
          </a:p>
          <a:p>
            <a:r>
              <a:rPr lang="en-GB" dirty="0"/>
              <a:t>• Take the tools you have learned, and apply them</a:t>
            </a:r>
          </a:p>
          <a:p>
            <a:endParaRPr lang="en-GB" dirty="0"/>
          </a:p>
        </p:txBody>
      </p:sp>
    </p:spTree>
    <p:extLst>
      <p:ext uri="{BB962C8B-B14F-4D97-AF65-F5344CB8AC3E}">
        <p14:creationId xmlns:p14="http://schemas.microsoft.com/office/powerpoint/2010/main" val="36486002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03263-BA7A-4C73-AE0F-F2BF305BD206}"/>
              </a:ext>
            </a:extLst>
          </p:cNvPr>
          <p:cNvSpPr>
            <a:spLocks noGrp="1"/>
          </p:cNvSpPr>
          <p:nvPr>
            <p:ph type="title"/>
          </p:nvPr>
        </p:nvSpPr>
        <p:spPr/>
        <p:txBody>
          <a:bodyPr>
            <a:normAutofit/>
          </a:bodyPr>
          <a:lstStyle/>
          <a:p>
            <a:r>
              <a:rPr lang="en-GB" sz="3000" b="0" i="0" u="none" strike="noStrike" baseline="0" dirty="0">
                <a:solidFill>
                  <a:srgbClr val="3333B3"/>
                </a:solidFill>
                <a:latin typeface="+mn-lt"/>
              </a:rPr>
              <a:t>Goals of the Essay: Important but limited</a:t>
            </a:r>
            <a:endParaRPr lang="en-GB" sz="3000" dirty="0"/>
          </a:p>
        </p:txBody>
      </p:sp>
      <p:sp>
        <p:nvSpPr>
          <p:cNvPr id="3" name="Content Placeholder 2">
            <a:extLst>
              <a:ext uri="{FF2B5EF4-FFF2-40B4-BE49-F238E27FC236}">
                <a16:creationId xmlns:a16="http://schemas.microsoft.com/office/drawing/2014/main" id="{9A16385B-7181-42E3-B3D7-F007D0EABD03}"/>
              </a:ext>
            </a:extLst>
          </p:cNvPr>
          <p:cNvSpPr>
            <a:spLocks noGrp="1"/>
          </p:cNvSpPr>
          <p:nvPr>
            <p:ph idx="1"/>
          </p:nvPr>
        </p:nvSpPr>
        <p:spPr/>
        <p:txBody>
          <a:bodyPr/>
          <a:lstStyle/>
          <a:p>
            <a:r>
              <a:rPr lang="en-GB" dirty="0"/>
              <a:t>But, your goals should be limited:</a:t>
            </a:r>
          </a:p>
          <a:p>
            <a:r>
              <a:rPr lang="en-GB" dirty="0"/>
              <a:t>• Can you formulate a question, like an economist?</a:t>
            </a:r>
          </a:p>
          <a:p>
            <a:r>
              <a:rPr lang="en-GB" dirty="0"/>
              <a:t>• Can you explain the question’s importance, like an economist?</a:t>
            </a:r>
          </a:p>
          <a:p>
            <a:r>
              <a:rPr lang="en-GB" dirty="0"/>
              <a:t>• Can you take the first steps to answer the question?</a:t>
            </a:r>
          </a:p>
          <a:p>
            <a:endParaRPr lang="en-GB" dirty="0"/>
          </a:p>
        </p:txBody>
      </p:sp>
    </p:spTree>
    <p:extLst>
      <p:ext uri="{BB962C8B-B14F-4D97-AF65-F5344CB8AC3E}">
        <p14:creationId xmlns:p14="http://schemas.microsoft.com/office/powerpoint/2010/main" val="21965923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5AA82-0F50-4067-855A-E77A4A858EBF}"/>
              </a:ext>
            </a:extLst>
          </p:cNvPr>
          <p:cNvSpPr>
            <a:spLocks noGrp="1"/>
          </p:cNvSpPr>
          <p:nvPr>
            <p:ph type="title"/>
          </p:nvPr>
        </p:nvSpPr>
        <p:spPr/>
        <p:txBody>
          <a:bodyPr>
            <a:normAutofit/>
          </a:bodyPr>
          <a:lstStyle/>
          <a:p>
            <a:r>
              <a:rPr lang="en-GB" sz="3500" b="0" i="0" u="none" strike="noStrike" baseline="0" dirty="0">
                <a:solidFill>
                  <a:srgbClr val="3333B3"/>
                </a:solidFill>
                <a:latin typeface="+mn-lt"/>
              </a:rPr>
              <a:t>Concerns</a:t>
            </a:r>
            <a:endParaRPr lang="en-GB" sz="3500" dirty="0"/>
          </a:p>
        </p:txBody>
      </p:sp>
      <p:sp>
        <p:nvSpPr>
          <p:cNvPr id="3" name="Content Placeholder 2">
            <a:extLst>
              <a:ext uri="{FF2B5EF4-FFF2-40B4-BE49-F238E27FC236}">
                <a16:creationId xmlns:a16="http://schemas.microsoft.com/office/drawing/2014/main" id="{68D8C290-8A6F-4A8B-90AE-9F2050C9A2D4}"/>
              </a:ext>
            </a:extLst>
          </p:cNvPr>
          <p:cNvSpPr>
            <a:spLocks noGrp="1"/>
          </p:cNvSpPr>
          <p:nvPr>
            <p:ph idx="1"/>
          </p:nvPr>
        </p:nvSpPr>
        <p:spPr/>
        <p:txBody>
          <a:bodyPr>
            <a:normAutofit/>
          </a:bodyPr>
          <a:lstStyle/>
          <a:p>
            <a:pPr marL="321945">
              <a:lnSpc>
                <a:spcPct val="115000"/>
              </a:lnSpc>
              <a:spcBef>
                <a:spcPts val="85"/>
              </a:spcBef>
              <a:spcAft>
                <a:spcPts val="1000"/>
              </a:spcAft>
            </a:pPr>
            <a:r>
              <a:rPr lang="en-US" sz="1800" dirty="0">
                <a:effectLst/>
                <a:latin typeface="Arial" panose="020B0604020202020204" pitchFamily="34" charset="0"/>
                <a:ea typeface="Arial" panose="020B0604020202020204" pitchFamily="34" charset="0"/>
                <a:cs typeface="Times New Roman" panose="02020603050405020304" pitchFamily="18" charset="0"/>
              </a:rPr>
              <a:t>Most</a:t>
            </a:r>
            <a:r>
              <a:rPr lang="en-US" sz="1800" spc="-35" dirty="0">
                <a:effectLst/>
                <a:latin typeface="Arial" panose="020B0604020202020204" pitchFamily="34" charset="0"/>
                <a:ea typeface="Arial" panose="020B0604020202020204" pitchFamily="34" charset="0"/>
                <a:cs typeface="Times New Roman" panose="02020603050405020304" pitchFamily="18" charset="0"/>
              </a:rPr>
              <a:t> </a:t>
            </a:r>
            <a:r>
              <a:rPr lang="en-US" sz="1800" dirty="0">
                <a:effectLst/>
                <a:latin typeface="Arial" panose="020B0604020202020204" pitchFamily="34" charset="0"/>
                <a:ea typeface="Arial" panose="020B0604020202020204" pitchFamily="34" charset="0"/>
                <a:cs typeface="Times New Roman" panose="02020603050405020304" pitchFamily="18" charset="0"/>
              </a:rPr>
              <a:t>res</a:t>
            </a:r>
            <a:r>
              <a:rPr lang="en-US" sz="1800" spc="5" dirty="0">
                <a:effectLst/>
                <a:latin typeface="Arial" panose="020B0604020202020204" pitchFamily="34" charset="0"/>
                <a:ea typeface="Arial" panose="020B0604020202020204" pitchFamily="34" charset="0"/>
                <a:cs typeface="Times New Roman" panose="02020603050405020304" pitchFamily="18" charset="0"/>
              </a:rPr>
              <a:t>e</a:t>
            </a:r>
            <a:r>
              <a:rPr lang="en-US" sz="1800" spc="-25" dirty="0">
                <a:effectLst/>
                <a:latin typeface="Arial" panose="020B0604020202020204" pitchFamily="34" charset="0"/>
                <a:ea typeface="Arial" panose="020B0604020202020204" pitchFamily="34" charset="0"/>
                <a:cs typeface="Times New Roman" panose="02020603050405020304" pitchFamily="18" charset="0"/>
              </a:rPr>
              <a:t>a</a:t>
            </a:r>
            <a:r>
              <a:rPr lang="en-US" sz="1800" dirty="0">
                <a:effectLst/>
                <a:latin typeface="Arial" panose="020B0604020202020204" pitchFamily="34" charset="0"/>
                <a:ea typeface="Arial" panose="020B0604020202020204" pitchFamily="34" charset="0"/>
                <a:cs typeface="Times New Roman" panose="02020603050405020304" pitchFamily="18" charset="0"/>
              </a:rPr>
              <a:t>rch</a:t>
            </a:r>
            <a:r>
              <a:rPr lang="en-US" sz="1800" spc="-40" dirty="0">
                <a:effectLst/>
                <a:latin typeface="Arial" panose="020B0604020202020204" pitchFamily="34" charset="0"/>
                <a:ea typeface="Arial" panose="020B0604020202020204" pitchFamily="34" charset="0"/>
                <a:cs typeface="Times New Roman" panose="02020603050405020304" pitchFamily="18" charset="0"/>
              </a:rPr>
              <a:t> </a:t>
            </a:r>
            <a:r>
              <a:rPr lang="en-US" sz="1800" spc="-25" dirty="0">
                <a:effectLst/>
                <a:latin typeface="Arial" panose="020B0604020202020204" pitchFamily="34" charset="0"/>
                <a:ea typeface="Arial" panose="020B0604020202020204" pitchFamily="34" charset="0"/>
                <a:cs typeface="Times New Roman" panose="02020603050405020304" pitchFamily="18" charset="0"/>
              </a:rPr>
              <a:t>p</a:t>
            </a:r>
            <a:r>
              <a:rPr lang="en-US" sz="1800" dirty="0">
                <a:effectLst/>
                <a:latin typeface="Arial" panose="020B0604020202020204" pitchFamily="34" charset="0"/>
                <a:ea typeface="Arial" panose="020B0604020202020204" pitchFamily="34" charset="0"/>
                <a:cs typeface="Times New Roman" panose="02020603050405020304" pitchFamily="18" charset="0"/>
              </a:rPr>
              <a:t>rojects</a:t>
            </a:r>
            <a:r>
              <a:rPr lang="en-US" sz="1800" spc="205" dirty="0">
                <a:effectLst/>
                <a:latin typeface="Arial" panose="020B0604020202020204" pitchFamily="34" charset="0"/>
                <a:ea typeface="Arial" panose="020B0604020202020204" pitchFamily="34" charset="0"/>
                <a:cs typeface="Times New Roman" panose="02020603050405020304" pitchFamily="18" charset="0"/>
              </a:rPr>
              <a:t> </a:t>
            </a:r>
            <a:r>
              <a:rPr lang="en-US" sz="1800" dirty="0">
                <a:effectLst/>
                <a:latin typeface="Arial" panose="020B0604020202020204" pitchFamily="34" charset="0"/>
                <a:ea typeface="Arial" panose="020B0604020202020204" pitchFamily="34" charset="0"/>
                <a:cs typeface="Times New Roman" panose="02020603050405020304" pitchFamily="18" charset="0"/>
              </a:rPr>
              <a:t>ta</a:t>
            </a:r>
            <a:r>
              <a:rPr lang="en-US" sz="1800" spc="-25" dirty="0">
                <a:effectLst/>
                <a:latin typeface="Arial" panose="020B0604020202020204" pitchFamily="34" charset="0"/>
                <a:ea typeface="Arial" panose="020B0604020202020204" pitchFamily="34" charset="0"/>
                <a:cs typeface="Times New Roman" panose="02020603050405020304" pitchFamily="18" charset="0"/>
              </a:rPr>
              <a:t>k</a:t>
            </a:r>
            <a:r>
              <a:rPr lang="en-US" sz="1800" dirty="0">
                <a:effectLst/>
                <a:latin typeface="Arial" panose="020B0604020202020204" pitchFamily="34" charset="0"/>
                <a:ea typeface="Arial" panose="020B0604020202020204" pitchFamily="34" charset="0"/>
                <a:cs typeface="Times New Roman" panose="02020603050405020304" pitchFamily="18" charset="0"/>
              </a:rPr>
              <a:t>e</a:t>
            </a:r>
            <a:r>
              <a:rPr lang="en-US" sz="1800" spc="160" dirty="0">
                <a:effectLst/>
                <a:latin typeface="Arial" panose="020B0604020202020204" pitchFamily="34" charset="0"/>
                <a:ea typeface="Arial" panose="020B0604020202020204" pitchFamily="34" charset="0"/>
                <a:cs typeface="Times New Roman" panose="02020603050405020304" pitchFamily="18" charset="0"/>
              </a:rPr>
              <a:t> </a:t>
            </a:r>
            <a:r>
              <a:rPr lang="en-US" sz="1800" dirty="0">
                <a:effectLst/>
                <a:latin typeface="Arial" panose="020B0604020202020204" pitchFamily="34" charset="0"/>
                <a:ea typeface="Arial" panose="020B0604020202020204" pitchFamily="34" charset="0"/>
                <a:cs typeface="Times New Roman" panose="02020603050405020304" pitchFamily="18" charset="0"/>
              </a:rPr>
              <a:t>m</a:t>
            </a:r>
            <a:r>
              <a:rPr lang="en-US" sz="1800" spc="-25" dirty="0">
                <a:effectLst/>
                <a:latin typeface="Arial" panose="020B0604020202020204" pitchFamily="34" charset="0"/>
                <a:ea typeface="Arial" panose="020B0604020202020204" pitchFamily="34" charset="0"/>
                <a:cs typeface="Times New Roman" panose="02020603050405020304" pitchFamily="18" charset="0"/>
              </a:rPr>
              <a:t>o</a:t>
            </a:r>
            <a:r>
              <a:rPr lang="en-US" sz="1800" dirty="0">
                <a:effectLst/>
                <a:latin typeface="Arial" panose="020B0604020202020204" pitchFamily="34" charset="0"/>
                <a:ea typeface="Arial" panose="020B0604020202020204" pitchFamily="34" charset="0"/>
                <a:cs typeface="Times New Roman" panose="02020603050405020304" pitchFamily="18" charset="0"/>
              </a:rPr>
              <a:t>re</a:t>
            </a:r>
            <a:r>
              <a:rPr lang="en-US" sz="1800" spc="115" dirty="0">
                <a:effectLst/>
                <a:latin typeface="Arial" panose="020B0604020202020204" pitchFamily="34" charset="0"/>
                <a:ea typeface="Arial" panose="020B0604020202020204" pitchFamily="34" charset="0"/>
                <a:cs typeface="Times New Roman" panose="02020603050405020304" pitchFamily="18" charset="0"/>
              </a:rPr>
              <a:t> </a:t>
            </a:r>
            <a:r>
              <a:rPr lang="en-US" sz="1800" dirty="0">
                <a:effectLst/>
                <a:latin typeface="Arial" panose="020B0604020202020204" pitchFamily="34" charset="0"/>
                <a:ea typeface="Arial" panose="020B0604020202020204" pitchFamily="34" charset="0"/>
                <a:cs typeface="Times New Roman" panose="02020603050405020304" pitchFamily="18" charset="0"/>
              </a:rPr>
              <a:t>than</a:t>
            </a:r>
            <a:r>
              <a:rPr lang="en-US" sz="1800" spc="-45" dirty="0">
                <a:effectLst/>
                <a:latin typeface="Arial" panose="020B0604020202020204" pitchFamily="34" charset="0"/>
                <a:ea typeface="Arial" panose="020B0604020202020204" pitchFamily="34" charset="0"/>
                <a:cs typeface="Times New Roman" panose="02020603050405020304" pitchFamily="18" charset="0"/>
              </a:rPr>
              <a:t> </a:t>
            </a:r>
            <a:r>
              <a:rPr lang="en-US" sz="1800" dirty="0">
                <a:effectLst/>
                <a:latin typeface="Arial" panose="020B0604020202020204" pitchFamily="34" charset="0"/>
                <a:ea typeface="Arial" panose="020B0604020202020204" pitchFamily="34" charset="0"/>
                <a:cs typeface="Times New Roman" panose="02020603050405020304" pitchFamily="18" charset="0"/>
              </a:rPr>
              <a:t>a</a:t>
            </a:r>
            <a:r>
              <a:rPr lang="en-US" sz="1800" spc="-30" dirty="0">
                <a:effectLst/>
                <a:latin typeface="Arial" panose="020B0604020202020204" pitchFamily="34" charset="0"/>
                <a:ea typeface="Arial" panose="020B0604020202020204" pitchFamily="34" charset="0"/>
                <a:cs typeface="Times New Roman" panose="02020603050405020304" pitchFamily="18" charset="0"/>
              </a:rPr>
              <a:t> y</a:t>
            </a:r>
            <a:r>
              <a:rPr lang="en-US" sz="1800" dirty="0">
                <a:effectLst/>
                <a:latin typeface="Arial" panose="020B0604020202020204" pitchFamily="34" charset="0"/>
                <a:ea typeface="Arial" panose="020B0604020202020204" pitchFamily="34" charset="0"/>
                <a:cs typeface="Times New Roman" panose="02020603050405020304" pitchFamily="18" charset="0"/>
              </a:rPr>
              <a:t>e</a:t>
            </a:r>
            <a:r>
              <a:rPr lang="en-US" sz="1800" spc="-30" dirty="0">
                <a:effectLst/>
                <a:latin typeface="Arial" panose="020B0604020202020204" pitchFamily="34" charset="0"/>
                <a:ea typeface="Arial" panose="020B0604020202020204" pitchFamily="34" charset="0"/>
                <a:cs typeface="Times New Roman" panose="02020603050405020304" pitchFamily="18" charset="0"/>
              </a:rPr>
              <a:t>a</a:t>
            </a:r>
            <a:r>
              <a:rPr lang="en-US" sz="1800" dirty="0">
                <a:effectLst/>
                <a:latin typeface="Arial" panose="020B0604020202020204" pitchFamily="34" charset="0"/>
                <a:ea typeface="Arial" panose="020B0604020202020204" pitchFamily="34" charset="0"/>
                <a:cs typeface="Times New Roman" panose="02020603050405020304" pitchFamily="18" charset="0"/>
              </a:rPr>
              <a:t>r</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450850">
              <a:lnSpc>
                <a:spcPct val="115000"/>
              </a:lnSpc>
              <a:spcBef>
                <a:spcPts val="385"/>
              </a:spcBef>
              <a:spcAft>
                <a:spcPts val="1000"/>
              </a:spcAft>
            </a:pPr>
            <a:r>
              <a:rPr lang="en-US" sz="1800" dirty="0">
                <a:solidFill>
                  <a:srgbClr val="3333B2"/>
                </a:solidFill>
                <a:effectLst/>
                <a:latin typeface="Arial" panose="020B0604020202020204" pitchFamily="34" charset="0"/>
                <a:ea typeface="Arial" panose="020B0604020202020204" pitchFamily="34" charset="0"/>
                <a:cs typeface="Times New Roman" panose="02020603050405020304" pitchFamily="18" charset="0"/>
              </a:rPr>
              <a:t>•</a:t>
            </a:r>
            <a:r>
              <a:rPr lang="en-US" sz="1800" spc="55" dirty="0">
                <a:solidFill>
                  <a:srgbClr val="3333B2"/>
                </a:solidFill>
                <a:effectLst/>
                <a:latin typeface="Arial" panose="020B0604020202020204" pitchFamily="34" charset="0"/>
                <a:ea typeface="Arial" panose="020B0604020202020204" pitchFamily="34" charset="0"/>
                <a:cs typeface="Times New Roman" panose="02020603050405020304" pitchFamily="18" charset="0"/>
              </a:rPr>
              <a:t> </a:t>
            </a:r>
            <a:r>
              <a:rPr lang="en-US" sz="18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Most</a:t>
            </a:r>
            <a:r>
              <a:rPr lang="en-US" sz="1800" spc="-35"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 </a:t>
            </a:r>
            <a:r>
              <a:rPr lang="en-US" sz="18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rese</a:t>
            </a:r>
            <a:r>
              <a:rPr lang="en-US" sz="1800" spc="-2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a</a:t>
            </a:r>
            <a:r>
              <a:rPr lang="en-US" sz="18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rch</a:t>
            </a:r>
            <a:r>
              <a:rPr lang="en-US" sz="1800" spc="-55"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 </a:t>
            </a:r>
            <a:r>
              <a:rPr lang="en-US" sz="18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attempts don’t</a:t>
            </a:r>
            <a:r>
              <a:rPr lang="en-US" sz="1800" spc="35"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 </a:t>
            </a:r>
            <a:r>
              <a:rPr lang="en-US" sz="18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turn</a:t>
            </a:r>
            <a:r>
              <a:rPr lang="en-US" sz="1800" spc="4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 </a:t>
            </a:r>
            <a:r>
              <a:rPr lang="en-US" sz="18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up</a:t>
            </a:r>
            <a:r>
              <a:rPr lang="en-US" sz="1800" spc="-4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 </a:t>
            </a:r>
            <a:r>
              <a:rPr lang="en-US" sz="18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much</a:t>
            </a:r>
            <a:r>
              <a:rPr lang="en-US" sz="1800" spc="85"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 </a:t>
            </a:r>
            <a:r>
              <a:rPr lang="en-US" sz="18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of</a:t>
            </a:r>
            <a:r>
              <a:rPr lang="en-US" sz="1800" spc="15"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 </a:t>
            </a:r>
            <a:r>
              <a:rPr lang="en-US" sz="18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interest</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450850">
              <a:lnSpc>
                <a:spcPct val="115000"/>
              </a:lnSpc>
              <a:spcBef>
                <a:spcPts val="385"/>
              </a:spcBef>
              <a:spcAft>
                <a:spcPts val="1000"/>
              </a:spcAft>
            </a:pPr>
            <a:r>
              <a:rPr lang="en-US" sz="1800" dirty="0">
                <a:solidFill>
                  <a:srgbClr val="3333B2"/>
                </a:solidFill>
                <a:effectLst/>
                <a:latin typeface="Arial" panose="020B0604020202020204" pitchFamily="34" charset="0"/>
                <a:ea typeface="Arial" panose="020B0604020202020204" pitchFamily="34" charset="0"/>
                <a:cs typeface="Times New Roman" panose="02020603050405020304" pitchFamily="18" charset="0"/>
              </a:rPr>
              <a:t>•</a:t>
            </a:r>
            <a:r>
              <a:rPr lang="en-US" sz="1800" spc="55" dirty="0">
                <a:solidFill>
                  <a:srgbClr val="3333B2"/>
                </a:solidFill>
                <a:effectLst/>
                <a:latin typeface="Arial" panose="020B0604020202020204" pitchFamily="34" charset="0"/>
                <a:ea typeface="Arial" panose="020B0604020202020204" pitchFamily="34" charset="0"/>
                <a:cs typeface="Times New Roman" panose="02020603050405020304" pitchFamily="18" charset="0"/>
              </a:rPr>
              <a:t> </a:t>
            </a:r>
            <a:r>
              <a:rPr lang="en-US" sz="1800" spc="-9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Y</a:t>
            </a:r>
            <a:r>
              <a:rPr lang="en-US" sz="18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ou</a:t>
            </a:r>
            <a:r>
              <a:rPr lang="en-US" sz="1800" spc="-7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 </a:t>
            </a:r>
            <a:r>
              <a:rPr lang="en-US" sz="18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cannot</a:t>
            </a:r>
            <a:r>
              <a:rPr lang="en-US" sz="1800" spc="26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 </a:t>
            </a:r>
            <a:r>
              <a:rPr lang="en-US" sz="1800" spc="25"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b</a:t>
            </a:r>
            <a:r>
              <a:rPr lang="en-US" sz="18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e</a:t>
            </a:r>
            <a:r>
              <a:rPr lang="en-US" sz="1800" spc="7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 </a:t>
            </a:r>
            <a:r>
              <a:rPr lang="en-US" sz="18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ex</a:t>
            </a:r>
            <a:r>
              <a:rPr lang="en-US" sz="1800" spc="25"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p</a:t>
            </a:r>
            <a:r>
              <a:rPr lang="en-US" sz="18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ected</a:t>
            </a:r>
            <a:r>
              <a:rPr lang="en-US" sz="1800" spc="11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 </a:t>
            </a:r>
            <a:r>
              <a:rPr lang="en-US" sz="18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to</a:t>
            </a:r>
            <a:r>
              <a:rPr lang="en-US" sz="1800" spc="8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 </a:t>
            </a:r>
            <a:r>
              <a:rPr lang="en-US" sz="18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create</a:t>
            </a:r>
            <a:r>
              <a:rPr lang="en-US" sz="1800" spc="105"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 </a:t>
            </a:r>
            <a:r>
              <a:rPr lang="en-US" sz="18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a</a:t>
            </a:r>
            <a:r>
              <a:rPr lang="en-US" sz="1800" spc="-3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 </a:t>
            </a:r>
            <a:r>
              <a:rPr lang="en-US" sz="18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“publishable”</a:t>
            </a:r>
            <a:r>
              <a:rPr lang="en-US" sz="1800" spc="135"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 </a:t>
            </a:r>
            <a:r>
              <a:rPr lang="en-US" sz="18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pa</a:t>
            </a:r>
            <a:r>
              <a:rPr lang="en-US" sz="1800" spc="3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p</a:t>
            </a:r>
            <a:r>
              <a:rPr lang="en-US" sz="18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er during the year</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950"/>
              </a:lnSpc>
              <a:spcBef>
                <a:spcPts val="35"/>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950"/>
              </a:lnSpc>
              <a:spcBef>
                <a:spcPts val="35"/>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GB" dirty="0"/>
          </a:p>
        </p:txBody>
      </p:sp>
    </p:spTree>
    <p:extLst>
      <p:ext uri="{BB962C8B-B14F-4D97-AF65-F5344CB8AC3E}">
        <p14:creationId xmlns:p14="http://schemas.microsoft.com/office/powerpoint/2010/main" val="7411116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1DD72-8028-4018-A069-BE4C6DFF0FBA}"/>
              </a:ext>
            </a:extLst>
          </p:cNvPr>
          <p:cNvSpPr>
            <a:spLocks noGrp="1"/>
          </p:cNvSpPr>
          <p:nvPr>
            <p:ph type="title"/>
          </p:nvPr>
        </p:nvSpPr>
        <p:spPr/>
        <p:txBody>
          <a:bodyPr>
            <a:normAutofit/>
          </a:bodyPr>
          <a:lstStyle/>
          <a:p>
            <a:r>
              <a:rPr lang="en-GB" sz="3500" b="0" i="0" u="none" strike="noStrike" baseline="0" dirty="0">
                <a:solidFill>
                  <a:srgbClr val="3333B3"/>
                </a:solidFill>
                <a:latin typeface="+mn-lt"/>
              </a:rPr>
              <a:t>Concerns</a:t>
            </a:r>
            <a:endParaRPr lang="en-GB" sz="3500" dirty="0"/>
          </a:p>
        </p:txBody>
      </p:sp>
      <p:sp>
        <p:nvSpPr>
          <p:cNvPr id="3" name="Content Placeholder 2">
            <a:extLst>
              <a:ext uri="{FF2B5EF4-FFF2-40B4-BE49-F238E27FC236}">
                <a16:creationId xmlns:a16="http://schemas.microsoft.com/office/drawing/2014/main" id="{1FB24E57-5453-43BB-BD14-FD466F997B36}"/>
              </a:ext>
            </a:extLst>
          </p:cNvPr>
          <p:cNvSpPr>
            <a:spLocks noGrp="1"/>
          </p:cNvSpPr>
          <p:nvPr>
            <p:ph idx="1"/>
          </p:nvPr>
        </p:nvSpPr>
        <p:spPr/>
        <p:txBody>
          <a:bodyPr>
            <a:normAutofit fontScale="92500" lnSpcReduction="20000"/>
          </a:bodyPr>
          <a:lstStyle/>
          <a:p>
            <a:pPr marL="321945">
              <a:lnSpc>
                <a:spcPct val="115000"/>
              </a:lnSpc>
              <a:spcAft>
                <a:spcPts val="1000"/>
              </a:spcAft>
            </a:pPr>
            <a:r>
              <a:rPr lang="en-US" sz="1800" dirty="0">
                <a:effectLst/>
                <a:latin typeface="Arial" panose="020B0604020202020204" pitchFamily="34" charset="0"/>
                <a:ea typeface="Arial" panose="020B0604020202020204" pitchFamily="34" charset="0"/>
                <a:cs typeface="Times New Roman" panose="02020603050405020304" pitchFamily="18" charset="0"/>
              </a:rPr>
              <a:t>Because</a:t>
            </a:r>
            <a:r>
              <a:rPr lang="en-US" sz="1800" spc="105" dirty="0">
                <a:effectLst/>
                <a:latin typeface="Arial" panose="020B0604020202020204" pitchFamily="34" charset="0"/>
                <a:ea typeface="Arial" panose="020B0604020202020204" pitchFamily="34" charset="0"/>
                <a:cs typeface="Times New Roman" panose="02020603050405020304" pitchFamily="18" charset="0"/>
              </a:rPr>
              <a:t> </a:t>
            </a:r>
            <a:r>
              <a:rPr lang="en-US" sz="1800" dirty="0">
                <a:effectLst/>
                <a:latin typeface="Arial" panose="020B0604020202020204" pitchFamily="34" charset="0"/>
                <a:ea typeface="Arial" panose="020B0604020202020204" pitchFamily="34" charset="0"/>
                <a:cs typeface="Times New Roman" panose="02020603050405020304" pitchFamily="18" charset="0"/>
              </a:rPr>
              <a:t>most</a:t>
            </a:r>
            <a:r>
              <a:rPr lang="en-US" sz="1800" spc="-105" dirty="0">
                <a:effectLst/>
                <a:latin typeface="Arial" panose="020B0604020202020204" pitchFamily="34" charset="0"/>
                <a:ea typeface="Arial" panose="020B0604020202020204" pitchFamily="34" charset="0"/>
                <a:cs typeface="Times New Roman" panose="02020603050405020304" pitchFamily="18" charset="0"/>
              </a:rPr>
              <a:t> </a:t>
            </a:r>
            <a:r>
              <a:rPr lang="en-US" sz="1800" dirty="0">
                <a:effectLst/>
                <a:latin typeface="Arial" panose="020B0604020202020204" pitchFamily="34" charset="0"/>
                <a:ea typeface="Arial" panose="020B0604020202020204" pitchFamily="34" charset="0"/>
                <a:cs typeface="Times New Roman" panose="02020603050405020304" pitchFamily="18" charset="0"/>
              </a:rPr>
              <a:t>rese</a:t>
            </a:r>
            <a:r>
              <a:rPr lang="en-US" sz="1800" spc="-25" dirty="0">
                <a:effectLst/>
                <a:latin typeface="Arial" panose="020B0604020202020204" pitchFamily="34" charset="0"/>
                <a:ea typeface="Arial" panose="020B0604020202020204" pitchFamily="34" charset="0"/>
                <a:cs typeface="Times New Roman" panose="02020603050405020304" pitchFamily="18" charset="0"/>
              </a:rPr>
              <a:t>a</a:t>
            </a:r>
            <a:r>
              <a:rPr lang="en-US" sz="1800" dirty="0">
                <a:effectLst/>
                <a:latin typeface="Arial" panose="020B0604020202020204" pitchFamily="34" charset="0"/>
                <a:ea typeface="Arial" panose="020B0604020202020204" pitchFamily="34" charset="0"/>
                <a:cs typeface="Times New Roman" panose="02020603050405020304" pitchFamily="18" charset="0"/>
              </a:rPr>
              <a:t>rch</a:t>
            </a:r>
            <a:r>
              <a:rPr lang="en-US" sz="1800" spc="35" dirty="0">
                <a:effectLst/>
                <a:latin typeface="Arial" panose="020B0604020202020204" pitchFamily="34" charset="0"/>
                <a:ea typeface="Arial" panose="020B0604020202020204" pitchFamily="34" charset="0"/>
                <a:cs typeface="Times New Roman" panose="02020603050405020304" pitchFamily="18" charset="0"/>
              </a:rPr>
              <a:t> </a:t>
            </a:r>
            <a:r>
              <a:rPr lang="en-US" sz="1800" dirty="0">
                <a:effectLst/>
                <a:latin typeface="Arial" panose="020B0604020202020204" pitchFamily="34" charset="0"/>
                <a:ea typeface="Arial" panose="020B0604020202020204" pitchFamily="34" charset="0"/>
                <a:cs typeface="Times New Roman" panose="02020603050405020304" pitchFamily="18" charset="0"/>
              </a:rPr>
              <a:t>ta</a:t>
            </a:r>
            <a:r>
              <a:rPr lang="en-US" sz="1800" spc="-25" dirty="0">
                <a:effectLst/>
                <a:latin typeface="Arial" panose="020B0604020202020204" pitchFamily="34" charset="0"/>
                <a:ea typeface="Arial" panose="020B0604020202020204" pitchFamily="34" charset="0"/>
                <a:cs typeface="Times New Roman" panose="02020603050405020304" pitchFamily="18" charset="0"/>
              </a:rPr>
              <a:t>k</a:t>
            </a:r>
            <a:r>
              <a:rPr lang="en-US" sz="1800" dirty="0">
                <a:effectLst/>
                <a:latin typeface="Arial" panose="020B0604020202020204" pitchFamily="34" charset="0"/>
                <a:ea typeface="Arial" panose="020B0604020202020204" pitchFamily="34" charset="0"/>
                <a:cs typeface="Times New Roman" panose="02020603050405020304" pitchFamily="18" charset="0"/>
              </a:rPr>
              <a:t>es</a:t>
            </a:r>
            <a:r>
              <a:rPr lang="en-US" sz="1800" spc="140" dirty="0">
                <a:effectLst/>
                <a:latin typeface="Arial" panose="020B0604020202020204" pitchFamily="34" charset="0"/>
                <a:ea typeface="Arial" panose="020B0604020202020204" pitchFamily="34" charset="0"/>
                <a:cs typeface="Times New Roman" panose="02020603050405020304" pitchFamily="18" charset="0"/>
              </a:rPr>
              <a:t> </a:t>
            </a:r>
            <a:r>
              <a:rPr lang="en-US" sz="1800" dirty="0">
                <a:effectLst/>
                <a:latin typeface="Arial" panose="020B0604020202020204" pitchFamily="34" charset="0"/>
                <a:ea typeface="Arial" panose="020B0604020202020204" pitchFamily="34" charset="0"/>
                <a:cs typeface="Times New Roman" panose="02020603050405020304" pitchFamily="18" charset="0"/>
              </a:rPr>
              <a:t>m</a:t>
            </a:r>
            <a:r>
              <a:rPr lang="en-US" sz="1800" spc="-25" dirty="0">
                <a:effectLst/>
                <a:latin typeface="Arial" panose="020B0604020202020204" pitchFamily="34" charset="0"/>
                <a:ea typeface="Arial" panose="020B0604020202020204" pitchFamily="34" charset="0"/>
                <a:cs typeface="Times New Roman" panose="02020603050405020304" pitchFamily="18" charset="0"/>
              </a:rPr>
              <a:t>o</a:t>
            </a:r>
            <a:r>
              <a:rPr lang="en-US" sz="1800" dirty="0">
                <a:effectLst/>
                <a:latin typeface="Arial" panose="020B0604020202020204" pitchFamily="34" charset="0"/>
                <a:ea typeface="Arial" panose="020B0604020202020204" pitchFamily="34" charset="0"/>
                <a:cs typeface="Times New Roman" panose="02020603050405020304" pitchFamily="18" charset="0"/>
              </a:rPr>
              <a:t>re</a:t>
            </a:r>
            <a:r>
              <a:rPr lang="en-US" sz="1800" spc="170" dirty="0">
                <a:effectLst/>
                <a:latin typeface="Arial" panose="020B0604020202020204" pitchFamily="34" charset="0"/>
                <a:ea typeface="Arial" panose="020B0604020202020204" pitchFamily="34" charset="0"/>
                <a:cs typeface="Times New Roman" panose="02020603050405020304" pitchFamily="18" charset="0"/>
              </a:rPr>
              <a:t> </a:t>
            </a:r>
            <a:r>
              <a:rPr lang="en-US" sz="1800" dirty="0">
                <a:effectLst/>
                <a:latin typeface="Arial" panose="020B0604020202020204" pitchFamily="34" charset="0"/>
                <a:ea typeface="Arial" panose="020B0604020202020204" pitchFamily="34" charset="0"/>
                <a:cs typeface="Times New Roman" panose="02020603050405020304" pitchFamily="18" charset="0"/>
              </a:rPr>
              <a:t>than</a:t>
            </a:r>
            <a:r>
              <a:rPr lang="en-US" sz="1800" spc="-45" dirty="0">
                <a:effectLst/>
                <a:latin typeface="Arial" panose="020B0604020202020204" pitchFamily="34" charset="0"/>
                <a:ea typeface="Arial" panose="020B0604020202020204" pitchFamily="34" charset="0"/>
                <a:cs typeface="Times New Roman" panose="02020603050405020304" pitchFamily="18" charset="0"/>
              </a:rPr>
              <a:t> </a:t>
            </a:r>
            <a:r>
              <a:rPr lang="en-US" sz="1800" dirty="0">
                <a:effectLst/>
                <a:latin typeface="Arial" panose="020B0604020202020204" pitchFamily="34" charset="0"/>
                <a:ea typeface="Arial" panose="020B0604020202020204" pitchFamily="34" charset="0"/>
                <a:cs typeface="Times New Roman" panose="02020603050405020304" pitchFamily="18" charset="0"/>
              </a:rPr>
              <a:t>a</a:t>
            </a:r>
            <a:r>
              <a:rPr lang="en-US" sz="1800" spc="-30" dirty="0">
                <a:effectLst/>
                <a:latin typeface="Arial" panose="020B0604020202020204" pitchFamily="34" charset="0"/>
                <a:ea typeface="Arial" panose="020B0604020202020204" pitchFamily="34" charset="0"/>
                <a:cs typeface="Times New Roman" panose="02020603050405020304" pitchFamily="18" charset="0"/>
              </a:rPr>
              <a:t> y</a:t>
            </a:r>
            <a:r>
              <a:rPr lang="en-US" sz="1800" dirty="0">
                <a:effectLst/>
                <a:latin typeface="Arial" panose="020B0604020202020204" pitchFamily="34" charset="0"/>
                <a:ea typeface="Arial" panose="020B0604020202020204" pitchFamily="34" charset="0"/>
                <a:cs typeface="Times New Roman" panose="02020603050405020304" pitchFamily="18" charset="0"/>
              </a:rPr>
              <a:t>e</a:t>
            </a:r>
            <a:r>
              <a:rPr lang="en-US" sz="1800" spc="-30" dirty="0">
                <a:effectLst/>
                <a:latin typeface="Arial" panose="020B0604020202020204" pitchFamily="34" charset="0"/>
                <a:ea typeface="Arial" panose="020B0604020202020204" pitchFamily="34" charset="0"/>
                <a:cs typeface="Times New Roman" panose="02020603050405020304" pitchFamily="18" charset="0"/>
              </a:rPr>
              <a:t>a</a:t>
            </a:r>
            <a:r>
              <a:rPr lang="en-US" sz="1800" dirty="0">
                <a:effectLst/>
                <a:latin typeface="Arial" panose="020B0604020202020204" pitchFamily="34" charset="0"/>
                <a:ea typeface="Arial" panose="020B0604020202020204" pitchFamily="34" charset="0"/>
                <a:cs typeface="Times New Roman" panose="02020603050405020304" pitchFamily="18" charset="0"/>
              </a:rPr>
              <a:t>r</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450850">
              <a:lnSpc>
                <a:spcPct val="115000"/>
              </a:lnSpc>
              <a:spcBef>
                <a:spcPts val="385"/>
              </a:spcBef>
              <a:spcAft>
                <a:spcPts val="1000"/>
              </a:spcAft>
            </a:pPr>
            <a:r>
              <a:rPr lang="en-US" sz="1800" dirty="0">
                <a:solidFill>
                  <a:srgbClr val="3333B2"/>
                </a:solidFill>
                <a:effectLst/>
                <a:latin typeface="Arial" panose="020B0604020202020204" pitchFamily="34" charset="0"/>
                <a:ea typeface="Arial" panose="020B0604020202020204" pitchFamily="34" charset="0"/>
                <a:cs typeface="Times New Roman" panose="02020603050405020304" pitchFamily="18" charset="0"/>
              </a:rPr>
              <a:t>•</a:t>
            </a:r>
            <a:r>
              <a:rPr lang="en-US" sz="1800" spc="55" dirty="0">
                <a:solidFill>
                  <a:srgbClr val="3333B2"/>
                </a:solidFill>
                <a:effectLst/>
                <a:latin typeface="Arial" panose="020B0604020202020204" pitchFamily="34" charset="0"/>
                <a:ea typeface="Arial" panose="020B0604020202020204" pitchFamily="34" charset="0"/>
                <a:cs typeface="Times New Roman" panose="02020603050405020304" pitchFamily="18" charset="0"/>
              </a:rPr>
              <a:t> </a:t>
            </a:r>
            <a:r>
              <a:rPr lang="en-US" sz="18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Many</a:t>
            </a:r>
            <a:r>
              <a:rPr lang="en-US" sz="1800" spc="-1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 </a:t>
            </a:r>
            <a:r>
              <a:rPr lang="en-US" sz="18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students</a:t>
            </a:r>
            <a:r>
              <a:rPr lang="en-US" sz="1800" spc="22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 </a:t>
            </a:r>
            <a:r>
              <a:rPr lang="en-US" sz="18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have</a:t>
            </a:r>
            <a:r>
              <a:rPr lang="en-US" sz="1800" spc="5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 </a:t>
            </a:r>
            <a:r>
              <a:rPr lang="en-US" sz="18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“time</a:t>
            </a:r>
            <a:r>
              <a:rPr lang="en-US" sz="1800" spc="16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 </a:t>
            </a:r>
            <a:r>
              <a:rPr lang="en-US" sz="18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management”</a:t>
            </a:r>
            <a:r>
              <a:rPr lang="en-US" sz="1800" spc="85"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 </a:t>
            </a:r>
            <a:r>
              <a:rPr lang="en-US" sz="18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challenges</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450850">
              <a:lnSpc>
                <a:spcPct val="115000"/>
              </a:lnSpc>
              <a:spcBef>
                <a:spcPts val="385"/>
              </a:spcBef>
              <a:spcAft>
                <a:spcPts val="1000"/>
              </a:spcAft>
            </a:pPr>
            <a:r>
              <a:rPr lang="en-US" sz="1800" dirty="0">
                <a:solidFill>
                  <a:srgbClr val="3333B2"/>
                </a:solidFill>
                <a:effectLst/>
                <a:latin typeface="Arial" panose="020B0604020202020204" pitchFamily="34" charset="0"/>
                <a:ea typeface="Arial" panose="020B0604020202020204" pitchFamily="34" charset="0"/>
                <a:cs typeface="Times New Roman" panose="02020603050405020304" pitchFamily="18" charset="0"/>
              </a:rPr>
              <a:t>•</a:t>
            </a:r>
            <a:r>
              <a:rPr lang="en-US" sz="1800" spc="55" dirty="0">
                <a:solidFill>
                  <a:srgbClr val="3333B2"/>
                </a:solidFill>
                <a:effectLst/>
                <a:latin typeface="Arial" panose="020B0604020202020204" pitchFamily="34" charset="0"/>
                <a:ea typeface="Arial" panose="020B0604020202020204" pitchFamily="34" charset="0"/>
                <a:cs typeface="Times New Roman" panose="02020603050405020304" pitchFamily="18" charset="0"/>
              </a:rPr>
              <a:t> </a:t>
            </a:r>
            <a:r>
              <a:rPr lang="en-US" sz="1800" spc="-9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T</a:t>
            </a:r>
            <a:r>
              <a:rPr lang="en-US" sz="18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ry</a:t>
            </a:r>
            <a:r>
              <a:rPr lang="en-US" sz="1800" spc="8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 </a:t>
            </a:r>
            <a:r>
              <a:rPr lang="en-US" sz="18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to</a:t>
            </a:r>
            <a:r>
              <a:rPr lang="en-US" sz="1800" spc="8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 </a:t>
            </a:r>
            <a:r>
              <a:rPr lang="en-US" sz="18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ans</a:t>
            </a:r>
            <a:r>
              <a:rPr lang="en-US" sz="1800" spc="-25"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w</a:t>
            </a:r>
            <a:r>
              <a:rPr lang="en-US" sz="18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er</a:t>
            </a:r>
            <a:r>
              <a:rPr lang="en-US" sz="1800" spc="135"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 </a:t>
            </a:r>
            <a:r>
              <a:rPr lang="en-US" sz="18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a</a:t>
            </a:r>
            <a:r>
              <a:rPr lang="en-US" sz="1800" spc="-3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 </a:t>
            </a:r>
            <a:r>
              <a:rPr lang="en-US" sz="18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question</a:t>
            </a:r>
          </a:p>
          <a:p>
            <a:pPr marL="743458" lvl="1">
              <a:lnSpc>
                <a:spcPct val="115000"/>
              </a:lnSpc>
              <a:spcBef>
                <a:spcPts val="385"/>
              </a:spcBef>
              <a:spcAft>
                <a:spcPts val="1000"/>
              </a:spcAft>
            </a:pPr>
            <a:r>
              <a:rPr lang="en-US" sz="1600" spc="90" dirty="0">
                <a:solidFill>
                  <a:srgbClr val="000000"/>
                </a:solidFill>
                <a:latin typeface="Arial" panose="020B0604020202020204" pitchFamily="34" charset="0"/>
                <a:ea typeface="Arial" panose="020B0604020202020204" pitchFamily="34" charset="0"/>
                <a:cs typeface="Times New Roman" panose="02020603050405020304" pitchFamily="18" charset="0"/>
              </a:rPr>
              <a:t>That is too broad</a:t>
            </a:r>
            <a:r>
              <a:rPr lang="en-US" sz="1600" spc="9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 </a:t>
            </a:r>
            <a:r>
              <a:rPr lang="en-US" sz="16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(e.g.,</a:t>
            </a:r>
            <a:r>
              <a:rPr lang="en-US" sz="1600" spc="-9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 </a:t>
            </a:r>
            <a:r>
              <a:rPr lang="en-US" sz="16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“how does trade affect inequality”)</a:t>
            </a:r>
          </a:p>
          <a:p>
            <a:pPr marL="743458" lvl="1">
              <a:lnSpc>
                <a:spcPct val="115000"/>
              </a:lnSpc>
              <a:spcBef>
                <a:spcPts val="385"/>
              </a:spcBef>
              <a:spcAft>
                <a:spcPts val="1000"/>
              </a:spcAft>
            </a:pPr>
            <a:r>
              <a:rPr lang="en-US" sz="1600" dirty="0">
                <a:solidFill>
                  <a:srgbClr val="000000"/>
                </a:solidFill>
                <a:latin typeface="Arial" panose="020B0604020202020204" pitchFamily="34" charset="0"/>
                <a:ea typeface="Calibri" panose="020F0502020204030204" pitchFamily="34" charset="0"/>
                <a:cs typeface="Times New Roman" panose="02020603050405020304" pitchFamily="18" charset="0"/>
              </a:rPr>
              <a:t>That is too disconnected from existing literature (no related paper since 2005)</a:t>
            </a:r>
            <a:endParaRPr lang="en-GB" sz="1600" dirty="0">
              <a:effectLst/>
              <a:latin typeface="Calibri" panose="020F0502020204030204" pitchFamily="34" charset="0"/>
              <a:ea typeface="Calibri" panose="020F0502020204030204" pitchFamily="34" charset="0"/>
              <a:cs typeface="Times New Roman" panose="02020603050405020304" pitchFamily="18" charset="0"/>
            </a:endParaRPr>
          </a:p>
          <a:p>
            <a:pPr marL="450850">
              <a:lnSpc>
                <a:spcPct val="115000"/>
              </a:lnSpc>
              <a:spcBef>
                <a:spcPts val="385"/>
              </a:spcBef>
              <a:spcAft>
                <a:spcPts val="1000"/>
              </a:spcAft>
            </a:pPr>
            <a:r>
              <a:rPr lang="en-US" sz="1800" dirty="0">
                <a:solidFill>
                  <a:srgbClr val="3333B2"/>
                </a:solidFill>
                <a:effectLst/>
                <a:latin typeface="Arial" panose="020B0604020202020204" pitchFamily="34" charset="0"/>
                <a:ea typeface="Arial" panose="020B0604020202020204" pitchFamily="34" charset="0"/>
                <a:cs typeface="Times New Roman" panose="02020603050405020304" pitchFamily="18" charset="0"/>
              </a:rPr>
              <a:t>•</a:t>
            </a:r>
            <a:r>
              <a:rPr lang="en-US" sz="1800" spc="55" dirty="0">
                <a:solidFill>
                  <a:srgbClr val="3333B2"/>
                </a:solidFill>
                <a:effectLst/>
                <a:latin typeface="Arial" panose="020B0604020202020204" pitchFamily="34" charset="0"/>
                <a:ea typeface="Arial" panose="020B0604020202020204" pitchFamily="34" charset="0"/>
                <a:cs typeface="Times New Roman" panose="02020603050405020304" pitchFamily="18" charset="0"/>
              </a:rPr>
              <a:t> </a:t>
            </a:r>
            <a:r>
              <a:rPr lang="en-US" sz="18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It</a:t>
            </a:r>
            <a:r>
              <a:rPr lang="en-US" sz="1800" spc="14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 </a:t>
            </a:r>
            <a:r>
              <a:rPr lang="en-US" sz="18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abs</a:t>
            </a:r>
            <a:r>
              <a:rPr lang="en-US" sz="1800" spc="-25"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o</a:t>
            </a:r>
            <a:r>
              <a:rPr lang="en-US" sz="18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rbs</a:t>
            </a:r>
            <a:r>
              <a:rPr lang="en-US" sz="1800" spc="105"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 </a:t>
            </a:r>
            <a:r>
              <a:rPr lang="en-US" sz="18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all</a:t>
            </a:r>
            <a:r>
              <a:rPr lang="en-US" sz="1800" spc="-5"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 </a:t>
            </a:r>
            <a:r>
              <a:rPr lang="en-US" sz="18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their</a:t>
            </a:r>
            <a:r>
              <a:rPr lang="en-US" sz="1800" spc="-25"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 </a:t>
            </a:r>
            <a:r>
              <a:rPr lang="en-US" sz="18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time, reducing their learning and grades in other courses</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450850">
              <a:lnSpc>
                <a:spcPct val="115000"/>
              </a:lnSpc>
              <a:spcBef>
                <a:spcPts val="385"/>
              </a:spcBef>
              <a:spcAft>
                <a:spcPts val="1000"/>
              </a:spcAft>
            </a:pPr>
            <a:r>
              <a:rPr lang="en-US" sz="1800" dirty="0">
                <a:solidFill>
                  <a:srgbClr val="3333B2"/>
                </a:solidFill>
                <a:effectLst/>
                <a:latin typeface="Arial" panose="020B0604020202020204" pitchFamily="34" charset="0"/>
                <a:ea typeface="Arial" panose="020B0604020202020204" pitchFamily="34" charset="0"/>
                <a:cs typeface="Times New Roman" panose="02020603050405020304" pitchFamily="18" charset="0"/>
              </a:rPr>
              <a:t>•</a:t>
            </a:r>
            <a:r>
              <a:rPr lang="en-US" sz="1800" spc="55" dirty="0">
                <a:solidFill>
                  <a:srgbClr val="3333B2"/>
                </a:solidFill>
                <a:effectLst/>
                <a:latin typeface="Arial" panose="020B0604020202020204" pitchFamily="34" charset="0"/>
                <a:ea typeface="Arial" panose="020B0604020202020204" pitchFamily="34" charset="0"/>
                <a:cs typeface="Times New Roman" panose="02020603050405020304" pitchFamily="18" charset="0"/>
              </a:rPr>
              <a:t> </a:t>
            </a:r>
            <a:r>
              <a:rPr lang="en-US" sz="18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Still</a:t>
            </a:r>
            <a:r>
              <a:rPr lang="en-US" sz="1800" spc="6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 </a:t>
            </a:r>
            <a:r>
              <a:rPr lang="en-US" sz="18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don’t</a:t>
            </a:r>
            <a:r>
              <a:rPr lang="en-US" sz="1800" spc="35"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 </a:t>
            </a:r>
            <a:r>
              <a:rPr lang="en-US" sz="1800" spc="35" dirty="0">
                <a:solidFill>
                  <a:srgbClr val="000000"/>
                </a:solidFill>
                <a:latin typeface="Arial" panose="020B0604020202020204" pitchFamily="34" charset="0"/>
                <a:ea typeface="Arial" panose="020B0604020202020204" pitchFamily="34" charset="0"/>
                <a:cs typeface="Times New Roman" panose="02020603050405020304" pitchFamily="18" charset="0"/>
              </a:rPr>
              <a:t>produce</a:t>
            </a:r>
            <a:r>
              <a:rPr lang="en-US" sz="1800" spc="6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 </a:t>
            </a:r>
            <a:r>
              <a:rPr lang="en-US" sz="18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a</a:t>
            </a:r>
            <a:r>
              <a:rPr lang="en-US" sz="1800" spc="-3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 </a:t>
            </a:r>
            <a:r>
              <a:rPr lang="en-US" sz="18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g</a:t>
            </a:r>
            <a:r>
              <a:rPr lang="en-US" sz="1800" spc="25"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oo</a:t>
            </a:r>
            <a:r>
              <a:rPr lang="en-US" sz="18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d</a:t>
            </a:r>
            <a:r>
              <a:rPr lang="en-US" sz="1800" spc="9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 </a:t>
            </a:r>
            <a:r>
              <a:rPr lang="en-US" sz="18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ess</a:t>
            </a:r>
            <a:r>
              <a:rPr lang="en-US" sz="1800" spc="-3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a</a:t>
            </a:r>
            <a:r>
              <a:rPr lang="en-US" sz="1800" spc="-30" dirty="0">
                <a:solidFill>
                  <a:srgbClr val="000000"/>
                </a:solidFill>
                <a:latin typeface="Arial" panose="020B0604020202020204" pitchFamily="34" charset="0"/>
                <a:ea typeface="Arial" panose="020B0604020202020204" pitchFamily="34" charset="0"/>
                <a:cs typeface="Times New Roman" panose="02020603050405020304" pitchFamily="18" charset="0"/>
              </a:rPr>
              <a:t>y</a:t>
            </a:r>
          </a:p>
          <a:p>
            <a:pPr marL="359410" indent="0">
              <a:lnSpc>
                <a:spcPct val="115000"/>
              </a:lnSpc>
              <a:spcBef>
                <a:spcPts val="385"/>
              </a:spcBef>
              <a:spcAft>
                <a:spcPts val="1000"/>
              </a:spcAft>
              <a:buNone/>
            </a:pP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950"/>
              </a:lnSpc>
              <a:spcBef>
                <a:spcPts val="35"/>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GB" dirty="0"/>
          </a:p>
        </p:txBody>
      </p:sp>
    </p:spTree>
    <p:extLst>
      <p:ext uri="{BB962C8B-B14F-4D97-AF65-F5344CB8AC3E}">
        <p14:creationId xmlns:p14="http://schemas.microsoft.com/office/powerpoint/2010/main" val="32331102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5A9D9-A4D5-4E98-93E4-7223C011875B}"/>
              </a:ext>
            </a:extLst>
          </p:cNvPr>
          <p:cNvSpPr>
            <a:spLocks noGrp="1"/>
          </p:cNvSpPr>
          <p:nvPr>
            <p:ph type="title"/>
          </p:nvPr>
        </p:nvSpPr>
        <p:spPr/>
        <p:txBody>
          <a:bodyPr>
            <a:normAutofit/>
          </a:bodyPr>
          <a:lstStyle/>
          <a:p>
            <a:r>
              <a:rPr lang="en-GB" sz="3500" b="0" i="0" u="none" strike="noStrike" baseline="0" dirty="0">
                <a:solidFill>
                  <a:srgbClr val="3333B3"/>
                </a:solidFill>
                <a:latin typeface="+mn-lt"/>
              </a:rPr>
              <a:t>Concerns</a:t>
            </a:r>
            <a:endParaRPr lang="en-GB" sz="3500" dirty="0"/>
          </a:p>
        </p:txBody>
      </p:sp>
      <p:sp>
        <p:nvSpPr>
          <p:cNvPr id="3" name="Content Placeholder 2">
            <a:extLst>
              <a:ext uri="{FF2B5EF4-FFF2-40B4-BE49-F238E27FC236}">
                <a16:creationId xmlns:a16="http://schemas.microsoft.com/office/drawing/2014/main" id="{EC1B304A-01E4-49C5-9A1E-38DE200F3C95}"/>
              </a:ext>
            </a:extLst>
          </p:cNvPr>
          <p:cNvSpPr>
            <a:spLocks noGrp="1"/>
          </p:cNvSpPr>
          <p:nvPr>
            <p:ph idx="1"/>
          </p:nvPr>
        </p:nvSpPr>
        <p:spPr/>
        <p:txBody>
          <a:bodyPr/>
          <a:lstStyle/>
          <a:p>
            <a:r>
              <a:rPr lang="en-GB" dirty="0"/>
              <a:t>We want to avoid this!</a:t>
            </a:r>
          </a:p>
          <a:p>
            <a:r>
              <a:rPr lang="en-GB" dirty="0"/>
              <a:t>• You will be judged on inputs and not outputs</a:t>
            </a:r>
          </a:p>
          <a:p>
            <a:r>
              <a:rPr lang="en-GB" dirty="0"/>
              <a:t>• No stars in the regression tables, no worries!</a:t>
            </a:r>
          </a:p>
          <a:p>
            <a:endParaRPr lang="en-GB" dirty="0"/>
          </a:p>
          <a:p>
            <a:endParaRPr lang="en-GB" dirty="0"/>
          </a:p>
        </p:txBody>
      </p:sp>
    </p:spTree>
    <p:extLst>
      <p:ext uri="{BB962C8B-B14F-4D97-AF65-F5344CB8AC3E}">
        <p14:creationId xmlns:p14="http://schemas.microsoft.com/office/powerpoint/2010/main" val="2959056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48854-F655-472B-9C90-96BFCD6CB811}"/>
              </a:ext>
            </a:extLst>
          </p:cNvPr>
          <p:cNvSpPr>
            <a:spLocks noGrp="1"/>
          </p:cNvSpPr>
          <p:nvPr>
            <p:ph type="title"/>
          </p:nvPr>
        </p:nvSpPr>
        <p:spPr/>
        <p:txBody>
          <a:bodyPr>
            <a:normAutofit/>
          </a:bodyPr>
          <a:lstStyle/>
          <a:p>
            <a:r>
              <a:rPr lang="en-GB" sz="4000" b="1" dirty="0">
                <a:solidFill>
                  <a:srgbClr val="0070C0"/>
                </a:solidFill>
              </a:rPr>
              <a:t>Essay Preparation</a:t>
            </a:r>
          </a:p>
        </p:txBody>
      </p:sp>
      <p:sp>
        <p:nvSpPr>
          <p:cNvPr id="3" name="Content Placeholder 2">
            <a:extLst>
              <a:ext uri="{FF2B5EF4-FFF2-40B4-BE49-F238E27FC236}">
                <a16:creationId xmlns:a16="http://schemas.microsoft.com/office/drawing/2014/main" id="{0A28D7EC-AB58-4E08-A4E3-31DC58565881}"/>
              </a:ext>
            </a:extLst>
          </p:cNvPr>
          <p:cNvSpPr>
            <a:spLocks noGrp="1"/>
          </p:cNvSpPr>
          <p:nvPr>
            <p:ph idx="1"/>
          </p:nvPr>
        </p:nvSpPr>
        <p:spPr/>
        <p:txBody>
          <a:bodyPr>
            <a:normAutofit/>
          </a:bodyPr>
          <a:lstStyle/>
          <a:p>
            <a:r>
              <a:rPr lang="en-GB" dirty="0"/>
              <a:t>We encourage a three-step process to writing the essay</a:t>
            </a:r>
          </a:p>
          <a:p>
            <a:r>
              <a:rPr lang="en-GB" dirty="0"/>
              <a:t>• Hopefully reduces anxieties!</a:t>
            </a:r>
          </a:p>
          <a:p>
            <a:pPr lvl="1">
              <a:buFont typeface="Arial" panose="020B0604020202020204" pitchFamily="34" charset="0"/>
              <a:buChar char="•"/>
            </a:pPr>
            <a:r>
              <a:rPr lang="en-GB" dirty="0"/>
              <a:t>Think of a finished piece of research as a final output </a:t>
            </a:r>
          </a:p>
          <a:p>
            <a:pPr lvl="1">
              <a:buFont typeface="Arial" panose="020B0604020202020204" pitchFamily="34" charset="0"/>
              <a:buChar char="•"/>
            </a:pPr>
            <a:r>
              <a:rPr lang="en-GB" dirty="0"/>
              <a:t>The extended essay allows you to develop some intermediate inputs or steps  </a:t>
            </a:r>
          </a:p>
          <a:p>
            <a:r>
              <a:rPr lang="en-GB" dirty="0"/>
              <a:t>A lot of attempts at research (even by us) does not result in a publishable paper but without going through these basic steps, we do not find out.  </a:t>
            </a:r>
          </a:p>
          <a:p>
            <a:r>
              <a:rPr lang="en-GB" dirty="0"/>
              <a:t>       The goal here is to provide some practice with these basic steps </a:t>
            </a:r>
          </a:p>
        </p:txBody>
      </p:sp>
    </p:spTree>
    <p:extLst>
      <p:ext uri="{BB962C8B-B14F-4D97-AF65-F5344CB8AC3E}">
        <p14:creationId xmlns:p14="http://schemas.microsoft.com/office/powerpoint/2010/main" val="39311330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1DD72-8028-4018-A069-BE4C6DFF0FBA}"/>
              </a:ext>
            </a:extLst>
          </p:cNvPr>
          <p:cNvSpPr>
            <a:spLocks noGrp="1"/>
          </p:cNvSpPr>
          <p:nvPr>
            <p:ph type="title"/>
          </p:nvPr>
        </p:nvSpPr>
        <p:spPr/>
        <p:txBody>
          <a:bodyPr>
            <a:normAutofit/>
          </a:bodyPr>
          <a:lstStyle/>
          <a:p>
            <a:r>
              <a:rPr lang="en-GB" sz="4000" b="1" dirty="0">
                <a:solidFill>
                  <a:srgbClr val="0070C0"/>
                </a:solidFill>
              </a:rPr>
              <a:t>Essay Preparation – Step 1</a:t>
            </a:r>
          </a:p>
        </p:txBody>
      </p:sp>
      <p:sp>
        <p:nvSpPr>
          <p:cNvPr id="3" name="Content Placeholder 2">
            <a:extLst>
              <a:ext uri="{FF2B5EF4-FFF2-40B4-BE49-F238E27FC236}">
                <a16:creationId xmlns:a16="http://schemas.microsoft.com/office/drawing/2014/main" id="{1FB24E57-5453-43BB-BD14-FD466F997B36}"/>
              </a:ext>
            </a:extLst>
          </p:cNvPr>
          <p:cNvSpPr>
            <a:spLocks noGrp="1"/>
          </p:cNvSpPr>
          <p:nvPr>
            <p:ph idx="1"/>
          </p:nvPr>
        </p:nvSpPr>
        <p:spPr/>
        <p:txBody>
          <a:bodyPr>
            <a:normAutofit fontScale="92500" lnSpcReduction="10000"/>
          </a:bodyPr>
          <a:lstStyle/>
          <a:p>
            <a:r>
              <a:rPr lang="en-GB" dirty="0"/>
              <a:t>A self-contained “review”, like an economist:</a:t>
            </a:r>
          </a:p>
          <a:p>
            <a:r>
              <a:rPr lang="en-GB" dirty="0"/>
              <a:t>• What is your question?</a:t>
            </a:r>
          </a:p>
          <a:p>
            <a:r>
              <a:rPr lang="en-GB" dirty="0"/>
              <a:t>• Narrow the question!</a:t>
            </a:r>
          </a:p>
          <a:p>
            <a:pPr lvl="1"/>
            <a:r>
              <a:rPr lang="en-GB" dirty="0"/>
              <a:t>A small but important input to answering the larger question.</a:t>
            </a:r>
          </a:p>
          <a:p>
            <a:pPr lvl="1"/>
            <a:r>
              <a:rPr lang="en-GB" dirty="0"/>
              <a:t>Explain its importance.</a:t>
            </a:r>
          </a:p>
          <a:p>
            <a:pPr lvl="1"/>
            <a:r>
              <a:rPr lang="en-GB" dirty="0"/>
              <a:t>Explain what we know and what we don’t know.</a:t>
            </a:r>
          </a:p>
          <a:p>
            <a:r>
              <a:rPr lang="en-GB" dirty="0"/>
              <a:t>• What do we currently know about your question?</a:t>
            </a:r>
          </a:p>
          <a:p>
            <a:r>
              <a:rPr lang="en-GB" dirty="0"/>
              <a:t>• What do we need to know, and why would it be important?</a:t>
            </a:r>
          </a:p>
          <a:p>
            <a:r>
              <a:rPr lang="en-GB" dirty="0"/>
              <a:t>• How might an economist fill those gaps?</a:t>
            </a:r>
          </a:p>
        </p:txBody>
      </p:sp>
    </p:spTree>
    <p:extLst>
      <p:ext uri="{BB962C8B-B14F-4D97-AF65-F5344CB8AC3E}">
        <p14:creationId xmlns:p14="http://schemas.microsoft.com/office/powerpoint/2010/main" val="11699531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5A9D9-A4D5-4E98-93E4-7223C011875B}"/>
              </a:ext>
            </a:extLst>
          </p:cNvPr>
          <p:cNvSpPr>
            <a:spLocks noGrp="1"/>
          </p:cNvSpPr>
          <p:nvPr>
            <p:ph type="title"/>
          </p:nvPr>
        </p:nvSpPr>
        <p:spPr/>
        <p:txBody>
          <a:bodyPr>
            <a:normAutofit/>
          </a:bodyPr>
          <a:lstStyle/>
          <a:p>
            <a:r>
              <a:rPr lang="en-GB" sz="3500" b="1" dirty="0">
                <a:solidFill>
                  <a:srgbClr val="0070C0"/>
                </a:solidFill>
              </a:rPr>
              <a:t>Essay Preparation: Step 1 – Literature Review</a:t>
            </a:r>
            <a:endParaRPr lang="en-GB" sz="3500" dirty="0"/>
          </a:p>
        </p:txBody>
      </p:sp>
      <p:sp>
        <p:nvSpPr>
          <p:cNvPr id="3" name="Content Placeholder 2">
            <a:extLst>
              <a:ext uri="{FF2B5EF4-FFF2-40B4-BE49-F238E27FC236}">
                <a16:creationId xmlns:a16="http://schemas.microsoft.com/office/drawing/2014/main" id="{EC1B304A-01E4-49C5-9A1E-38DE200F3C95}"/>
              </a:ext>
            </a:extLst>
          </p:cNvPr>
          <p:cNvSpPr>
            <a:spLocks noGrp="1"/>
          </p:cNvSpPr>
          <p:nvPr>
            <p:ph idx="1"/>
          </p:nvPr>
        </p:nvSpPr>
        <p:spPr/>
        <p:txBody>
          <a:bodyPr>
            <a:normAutofit/>
          </a:bodyPr>
          <a:lstStyle/>
          <a:p>
            <a:r>
              <a:rPr lang="en-GB" dirty="0"/>
              <a:t>Usually called a ‘literature review’ but it is much more</a:t>
            </a:r>
          </a:p>
          <a:p>
            <a:r>
              <a:rPr lang="en-GB" dirty="0"/>
              <a:t>• A good literature review does not mechanically list and summarize all the papers that have been written on the topic  </a:t>
            </a:r>
          </a:p>
          <a:p>
            <a:r>
              <a:rPr lang="en-US" dirty="0"/>
              <a:t>A good literature review:</a:t>
            </a:r>
          </a:p>
          <a:p>
            <a:pPr lvl="1">
              <a:buFont typeface="Arial" panose="020B0604020202020204" pitchFamily="34" charset="0"/>
              <a:buChar char="•"/>
            </a:pPr>
            <a:r>
              <a:rPr lang="en-US" dirty="0"/>
              <a:t>Explains the importance of the question</a:t>
            </a:r>
          </a:p>
          <a:p>
            <a:pPr lvl="1">
              <a:buFont typeface="Arial" panose="020B0604020202020204" pitchFamily="34" charset="0"/>
              <a:buChar char="•"/>
            </a:pPr>
            <a:r>
              <a:rPr lang="en-US" dirty="0"/>
              <a:t>Relates existing papers to the question and its conceptualization</a:t>
            </a:r>
          </a:p>
          <a:p>
            <a:pPr lvl="1">
              <a:buFont typeface="Arial" panose="020B0604020202020204" pitchFamily="34" charset="0"/>
              <a:buChar char="•"/>
            </a:pPr>
            <a:r>
              <a:rPr lang="en-US" dirty="0"/>
              <a:t>Critically evaluates the papers in the literature and explains gaps</a:t>
            </a:r>
          </a:p>
          <a:p>
            <a:pPr lvl="1">
              <a:buFont typeface="Arial" panose="020B0604020202020204" pitchFamily="34" charset="0"/>
              <a:buChar char="•"/>
            </a:pPr>
            <a:r>
              <a:rPr lang="en-US" dirty="0"/>
              <a:t>Explains how some of those gaps might be filled</a:t>
            </a:r>
            <a:endParaRPr lang="en-GB" dirty="0"/>
          </a:p>
          <a:p>
            <a:endParaRPr lang="en-GB" dirty="0"/>
          </a:p>
        </p:txBody>
      </p:sp>
    </p:spTree>
    <p:extLst>
      <p:ext uri="{BB962C8B-B14F-4D97-AF65-F5344CB8AC3E}">
        <p14:creationId xmlns:p14="http://schemas.microsoft.com/office/powerpoint/2010/main" val="1285253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1DD72-8028-4018-A069-BE4C6DFF0FBA}"/>
              </a:ext>
            </a:extLst>
          </p:cNvPr>
          <p:cNvSpPr>
            <a:spLocks noGrp="1"/>
          </p:cNvSpPr>
          <p:nvPr>
            <p:ph type="title"/>
          </p:nvPr>
        </p:nvSpPr>
        <p:spPr/>
        <p:txBody>
          <a:bodyPr/>
          <a:lstStyle/>
          <a:p>
            <a:r>
              <a:rPr kumimoji="0" lang="en-GB" sz="3500" b="1" i="0" u="none" strike="noStrike" kern="1200" cap="none" spc="-50" normalizeH="0" baseline="0" noProof="0" dirty="0">
                <a:ln>
                  <a:noFill/>
                </a:ln>
                <a:solidFill>
                  <a:srgbClr val="0070C0"/>
                </a:solidFill>
                <a:effectLst/>
                <a:uLnTx/>
                <a:uFillTx/>
                <a:latin typeface="Calibri Light" panose="020F0302020204030204"/>
                <a:ea typeface="+mj-ea"/>
                <a:cs typeface="+mj-cs"/>
              </a:rPr>
              <a:t>Step 1 – Literature Review</a:t>
            </a:r>
            <a:endParaRPr lang="en-GB" dirty="0"/>
          </a:p>
        </p:txBody>
      </p:sp>
      <p:sp>
        <p:nvSpPr>
          <p:cNvPr id="3" name="Content Placeholder 2">
            <a:extLst>
              <a:ext uri="{FF2B5EF4-FFF2-40B4-BE49-F238E27FC236}">
                <a16:creationId xmlns:a16="http://schemas.microsoft.com/office/drawing/2014/main" id="{1FB24E57-5453-43BB-BD14-FD466F997B36}"/>
              </a:ext>
            </a:extLst>
          </p:cNvPr>
          <p:cNvSpPr>
            <a:spLocks noGrp="1"/>
          </p:cNvSpPr>
          <p:nvPr>
            <p:ph idx="1"/>
          </p:nvPr>
        </p:nvSpPr>
        <p:spPr/>
        <p:txBody>
          <a:bodyPr/>
          <a:lstStyle/>
          <a:p>
            <a:r>
              <a:rPr lang="en-GB" dirty="0"/>
              <a:t>Do this step early!</a:t>
            </a:r>
          </a:p>
          <a:p>
            <a:r>
              <a:rPr lang="en-GB" dirty="0"/>
              <a:t>• You could get a good mark just for this </a:t>
            </a:r>
          </a:p>
          <a:p>
            <a:r>
              <a:rPr lang="en-GB" dirty="0"/>
              <a:t>• Relax in the knowledge that you have done enough to pass!</a:t>
            </a:r>
          </a:p>
        </p:txBody>
      </p:sp>
    </p:spTree>
    <p:extLst>
      <p:ext uri="{BB962C8B-B14F-4D97-AF65-F5344CB8AC3E}">
        <p14:creationId xmlns:p14="http://schemas.microsoft.com/office/powerpoint/2010/main" val="13253333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5A9D9-A4D5-4E98-93E4-7223C011875B}"/>
              </a:ext>
            </a:extLst>
          </p:cNvPr>
          <p:cNvSpPr>
            <a:spLocks noGrp="1"/>
          </p:cNvSpPr>
          <p:nvPr>
            <p:ph type="title"/>
          </p:nvPr>
        </p:nvSpPr>
        <p:spPr/>
        <p:txBody>
          <a:bodyPr>
            <a:normAutofit/>
          </a:bodyPr>
          <a:lstStyle/>
          <a:p>
            <a:r>
              <a:rPr lang="en-GB" sz="3500" dirty="0">
                <a:solidFill>
                  <a:srgbClr val="0070C0"/>
                </a:solidFill>
              </a:rPr>
              <a:t>Essay Preparation: Step Two</a:t>
            </a:r>
            <a:br>
              <a:rPr lang="en-GB" sz="3500" dirty="0">
                <a:solidFill>
                  <a:srgbClr val="0070C0"/>
                </a:solidFill>
              </a:rPr>
            </a:br>
            <a:endParaRPr lang="en-GB" sz="3500" dirty="0">
              <a:solidFill>
                <a:srgbClr val="0070C0"/>
              </a:solidFill>
            </a:endParaRPr>
          </a:p>
        </p:txBody>
      </p:sp>
      <p:sp>
        <p:nvSpPr>
          <p:cNvPr id="3" name="Content Placeholder 2">
            <a:extLst>
              <a:ext uri="{FF2B5EF4-FFF2-40B4-BE49-F238E27FC236}">
                <a16:creationId xmlns:a16="http://schemas.microsoft.com/office/drawing/2014/main" id="{EC1B304A-01E4-49C5-9A1E-38DE200F3C95}"/>
              </a:ext>
            </a:extLst>
          </p:cNvPr>
          <p:cNvSpPr>
            <a:spLocks noGrp="1"/>
          </p:cNvSpPr>
          <p:nvPr>
            <p:ph idx="1"/>
          </p:nvPr>
        </p:nvSpPr>
        <p:spPr/>
        <p:txBody>
          <a:bodyPr/>
          <a:lstStyle/>
          <a:p>
            <a:r>
              <a:rPr lang="en-GB" dirty="0"/>
              <a:t>Provide an extension  </a:t>
            </a:r>
          </a:p>
          <a:p>
            <a:r>
              <a:rPr lang="en-GB" dirty="0"/>
              <a:t>• Step one identified gaps</a:t>
            </a:r>
          </a:p>
          <a:p>
            <a:r>
              <a:rPr lang="en-GB" dirty="0"/>
              <a:t>• Try to fill one, in a small way</a:t>
            </a:r>
          </a:p>
          <a:p>
            <a:r>
              <a:rPr lang="en-GB" dirty="0"/>
              <a:t>• </a:t>
            </a:r>
            <a:r>
              <a:rPr lang="en-GB" dirty="0" err="1"/>
              <a:t>E.g</a:t>
            </a:r>
            <a:r>
              <a:rPr lang="en-GB" dirty="0"/>
              <a:t>, same method new data, same method new country, same data but some variation in the method – e.g., adding an interaction term, adding a new variable, providing a model to interpret empirical results … etc.</a:t>
            </a:r>
          </a:p>
        </p:txBody>
      </p:sp>
    </p:spTree>
    <p:extLst>
      <p:ext uri="{BB962C8B-B14F-4D97-AF65-F5344CB8AC3E}">
        <p14:creationId xmlns:p14="http://schemas.microsoft.com/office/powerpoint/2010/main" val="41211849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48854-F655-472B-9C90-96BFCD6CB811}"/>
              </a:ext>
            </a:extLst>
          </p:cNvPr>
          <p:cNvSpPr>
            <a:spLocks noGrp="1"/>
          </p:cNvSpPr>
          <p:nvPr>
            <p:ph type="title"/>
          </p:nvPr>
        </p:nvSpPr>
        <p:spPr/>
        <p:txBody>
          <a:bodyPr>
            <a:normAutofit fontScale="90000"/>
          </a:bodyPr>
          <a:lstStyle/>
          <a:p>
            <a:br>
              <a:rPr kumimoji="0" lang="en-GB" sz="3500" b="0" i="0" u="none" strike="noStrike" kern="1200" cap="none" spc="-50" normalizeH="0" baseline="0" noProof="0" dirty="0">
                <a:ln>
                  <a:noFill/>
                </a:ln>
                <a:solidFill>
                  <a:srgbClr val="0070C0"/>
                </a:solidFill>
                <a:effectLst/>
                <a:uLnTx/>
                <a:uFillTx/>
                <a:latin typeface="Calibri Light" panose="020F0302020204030204"/>
                <a:ea typeface="+mj-ea"/>
                <a:cs typeface="+mj-cs"/>
              </a:rPr>
            </a:br>
            <a:r>
              <a:rPr kumimoji="0" lang="en-GB" sz="3500" b="0" i="0" u="none" strike="noStrike" kern="1200" cap="none" spc="-50" normalizeH="0" baseline="0" noProof="0" dirty="0">
                <a:ln>
                  <a:noFill/>
                </a:ln>
                <a:solidFill>
                  <a:srgbClr val="0070C0"/>
                </a:solidFill>
                <a:effectLst/>
                <a:uLnTx/>
                <a:uFillTx/>
                <a:latin typeface="Calibri Light" panose="020F0302020204030204"/>
                <a:ea typeface="+mj-ea"/>
                <a:cs typeface="+mj-cs"/>
              </a:rPr>
              <a:t>Step Two – An Extension</a:t>
            </a:r>
            <a:br>
              <a:rPr kumimoji="0" lang="en-GB" sz="3500" b="0" i="0" u="none" strike="noStrike" kern="1200" cap="none" spc="-50" normalizeH="0" baseline="0" noProof="0" dirty="0">
                <a:ln>
                  <a:noFill/>
                </a:ln>
                <a:solidFill>
                  <a:srgbClr val="0070C0"/>
                </a:solidFill>
                <a:effectLst/>
                <a:uLnTx/>
                <a:uFillTx/>
                <a:latin typeface="Calibri Light" panose="020F0302020204030204"/>
                <a:ea typeface="+mj-ea"/>
                <a:cs typeface="+mj-cs"/>
              </a:rPr>
            </a:br>
            <a:endParaRPr lang="en-GB" dirty="0"/>
          </a:p>
        </p:txBody>
      </p:sp>
      <p:sp>
        <p:nvSpPr>
          <p:cNvPr id="3" name="Content Placeholder 2">
            <a:extLst>
              <a:ext uri="{FF2B5EF4-FFF2-40B4-BE49-F238E27FC236}">
                <a16:creationId xmlns:a16="http://schemas.microsoft.com/office/drawing/2014/main" id="{0A28D7EC-AB58-4E08-A4E3-31DC58565881}"/>
              </a:ext>
            </a:extLst>
          </p:cNvPr>
          <p:cNvSpPr>
            <a:spLocks noGrp="1"/>
          </p:cNvSpPr>
          <p:nvPr>
            <p:ph idx="1"/>
          </p:nvPr>
        </p:nvSpPr>
        <p:spPr/>
        <p:txBody>
          <a:bodyPr/>
          <a:lstStyle/>
          <a:p>
            <a:r>
              <a:rPr lang="en-GB" dirty="0"/>
              <a:t>Takes your essay to a new level</a:t>
            </a:r>
          </a:p>
          <a:p>
            <a:r>
              <a:rPr lang="en-GB" dirty="0"/>
              <a:t>• Show that you can do some very basic “research”</a:t>
            </a:r>
          </a:p>
          <a:p>
            <a:r>
              <a:rPr lang="en-GB" dirty="0"/>
              <a:t>• Interpret outcomes correctly</a:t>
            </a:r>
          </a:p>
          <a:p>
            <a:r>
              <a:rPr lang="en-GB" dirty="0"/>
              <a:t>• No-stars, no problem!</a:t>
            </a:r>
          </a:p>
          <a:p>
            <a:r>
              <a:rPr lang="en-GB" dirty="0"/>
              <a:t>• Think of yourself writing a report on what you find and why you might be finding it, and what could potentially overcome any challenges you faced</a:t>
            </a:r>
          </a:p>
        </p:txBody>
      </p:sp>
    </p:spTree>
    <p:extLst>
      <p:ext uri="{BB962C8B-B14F-4D97-AF65-F5344CB8AC3E}">
        <p14:creationId xmlns:p14="http://schemas.microsoft.com/office/powerpoint/2010/main" val="15180867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1DD72-8028-4018-A069-BE4C6DFF0FBA}"/>
              </a:ext>
            </a:extLst>
          </p:cNvPr>
          <p:cNvSpPr>
            <a:spLocks noGrp="1"/>
          </p:cNvSpPr>
          <p:nvPr>
            <p:ph type="title"/>
          </p:nvPr>
        </p:nvSpPr>
        <p:spPr/>
        <p:txBody>
          <a:bodyPr/>
          <a:lstStyle/>
          <a:p>
            <a:r>
              <a:rPr kumimoji="0" lang="en-GB" sz="3500" b="0" i="0" u="none" strike="noStrike" kern="1200" cap="none" spc="-50" normalizeH="0" baseline="0" noProof="0" dirty="0">
                <a:ln>
                  <a:noFill/>
                </a:ln>
                <a:solidFill>
                  <a:srgbClr val="0070C0"/>
                </a:solidFill>
                <a:effectLst/>
                <a:uLnTx/>
                <a:uFillTx/>
                <a:latin typeface="Calibri Light" panose="020F0302020204030204"/>
                <a:ea typeface="+mj-ea"/>
                <a:cs typeface="+mj-cs"/>
              </a:rPr>
              <a:t>Step Two - Extension</a:t>
            </a:r>
            <a:br>
              <a:rPr kumimoji="0" lang="en-GB" sz="3500" b="0" i="0" u="none" strike="noStrike" kern="1200" cap="none" spc="-50" normalizeH="0" baseline="0" noProof="0" dirty="0">
                <a:ln>
                  <a:noFill/>
                </a:ln>
                <a:solidFill>
                  <a:srgbClr val="0070C0"/>
                </a:solidFill>
                <a:effectLst/>
                <a:uLnTx/>
                <a:uFillTx/>
                <a:latin typeface="Calibri Light" panose="020F0302020204030204"/>
                <a:ea typeface="+mj-ea"/>
                <a:cs typeface="+mj-cs"/>
              </a:rPr>
            </a:br>
            <a:endParaRPr lang="en-GB" dirty="0"/>
          </a:p>
        </p:txBody>
      </p:sp>
      <p:sp>
        <p:nvSpPr>
          <p:cNvPr id="3" name="Content Placeholder 2">
            <a:extLst>
              <a:ext uri="{FF2B5EF4-FFF2-40B4-BE49-F238E27FC236}">
                <a16:creationId xmlns:a16="http://schemas.microsoft.com/office/drawing/2014/main" id="{1FB24E57-5453-43BB-BD14-FD466F997B36}"/>
              </a:ext>
            </a:extLst>
          </p:cNvPr>
          <p:cNvSpPr>
            <a:spLocks noGrp="1"/>
          </p:cNvSpPr>
          <p:nvPr>
            <p:ph idx="1"/>
          </p:nvPr>
        </p:nvSpPr>
        <p:spPr/>
        <p:txBody>
          <a:bodyPr>
            <a:normAutofit fontScale="92500" lnSpcReduction="20000"/>
          </a:bodyPr>
          <a:lstStyle/>
          <a:p>
            <a:r>
              <a:rPr lang="en-GB" dirty="0"/>
              <a:t>Most essays for this course tend to be empirical  </a:t>
            </a:r>
          </a:p>
          <a:p>
            <a:r>
              <a:rPr lang="en-GB" dirty="0"/>
              <a:t>• However, you can write a theoretical essay or one that does simulations based on a theoretical model  </a:t>
            </a:r>
          </a:p>
          <a:p>
            <a:endParaRPr lang="en-GB" dirty="0"/>
          </a:p>
          <a:p>
            <a:r>
              <a:rPr lang="en-GB" dirty="0"/>
              <a:t>For theory essays, point out the limitation of an existing model in explaining some facts and provide a small extension that could help do that </a:t>
            </a:r>
          </a:p>
          <a:p>
            <a:r>
              <a:rPr lang="en-GB" dirty="0"/>
              <a:t> </a:t>
            </a:r>
          </a:p>
          <a:p>
            <a:r>
              <a:rPr lang="en-GB" dirty="0"/>
              <a:t>For a simulation exercise, point of what is the limitation of our knowledge from a  particular empirical study and how one could take the estimates from such a paper and try to predict what will happen when some aspects of the environment change</a:t>
            </a:r>
          </a:p>
          <a:p>
            <a:endParaRPr lang="en-GB" dirty="0"/>
          </a:p>
          <a:p>
            <a:endParaRPr lang="en-GB" dirty="0"/>
          </a:p>
          <a:p>
            <a:endParaRPr lang="en-GB" dirty="0"/>
          </a:p>
          <a:p>
            <a:endParaRPr lang="en-GB" dirty="0"/>
          </a:p>
          <a:p>
            <a:endParaRPr lang="en-GB" dirty="0"/>
          </a:p>
          <a:p>
            <a:endParaRPr lang="en-GB" dirty="0"/>
          </a:p>
        </p:txBody>
      </p:sp>
    </p:spTree>
    <p:extLst>
      <p:ext uri="{BB962C8B-B14F-4D97-AF65-F5344CB8AC3E}">
        <p14:creationId xmlns:p14="http://schemas.microsoft.com/office/powerpoint/2010/main" val="19372080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5A9D9-A4D5-4E98-93E4-7223C011875B}"/>
              </a:ext>
            </a:extLst>
          </p:cNvPr>
          <p:cNvSpPr>
            <a:spLocks noGrp="1"/>
          </p:cNvSpPr>
          <p:nvPr>
            <p:ph type="title"/>
          </p:nvPr>
        </p:nvSpPr>
        <p:spPr/>
        <p:txBody>
          <a:bodyPr>
            <a:normAutofit/>
          </a:bodyPr>
          <a:lstStyle/>
          <a:p>
            <a:r>
              <a:rPr lang="en-GB" sz="3500" b="1" dirty="0">
                <a:solidFill>
                  <a:srgbClr val="0070C0"/>
                </a:solidFill>
              </a:rPr>
              <a:t>Essay Preparation: Step Three </a:t>
            </a:r>
            <a:br>
              <a:rPr lang="en-GB" sz="3500" b="1" dirty="0">
                <a:solidFill>
                  <a:srgbClr val="0070C0"/>
                </a:solidFill>
              </a:rPr>
            </a:br>
            <a:r>
              <a:rPr lang="en-GB" sz="3500" b="1" dirty="0">
                <a:solidFill>
                  <a:srgbClr val="0070C0"/>
                </a:solidFill>
              </a:rPr>
              <a:t>A Big Extension</a:t>
            </a:r>
          </a:p>
        </p:txBody>
      </p:sp>
      <p:sp>
        <p:nvSpPr>
          <p:cNvPr id="3" name="Content Placeholder 2">
            <a:extLst>
              <a:ext uri="{FF2B5EF4-FFF2-40B4-BE49-F238E27FC236}">
                <a16:creationId xmlns:a16="http://schemas.microsoft.com/office/drawing/2014/main" id="{EC1B304A-01E4-49C5-9A1E-38DE200F3C95}"/>
              </a:ext>
            </a:extLst>
          </p:cNvPr>
          <p:cNvSpPr>
            <a:spLocks noGrp="1"/>
          </p:cNvSpPr>
          <p:nvPr>
            <p:ph idx="1"/>
          </p:nvPr>
        </p:nvSpPr>
        <p:spPr/>
        <p:txBody>
          <a:bodyPr/>
          <a:lstStyle/>
          <a:p>
            <a:r>
              <a:rPr lang="en-GB" dirty="0"/>
              <a:t>A Big Extension (if you have time, and perhaps some luck)</a:t>
            </a:r>
          </a:p>
          <a:p>
            <a:r>
              <a:rPr lang="en-GB" dirty="0"/>
              <a:t>• Perhaps you really can fill a big gap</a:t>
            </a:r>
          </a:p>
          <a:p>
            <a:r>
              <a:rPr lang="en-GB" dirty="0"/>
              <a:t>• Stumble upon data and identification strategy</a:t>
            </a:r>
          </a:p>
          <a:p>
            <a:r>
              <a:rPr lang="en-GB" dirty="0"/>
              <a:t>• Great – you have hit the jackpot!</a:t>
            </a:r>
          </a:p>
          <a:p>
            <a:r>
              <a:rPr lang="en-GB" dirty="0"/>
              <a:t>• But this is not necessary and not what we are expecting</a:t>
            </a:r>
          </a:p>
          <a:p>
            <a:endParaRPr lang="en-GB" dirty="0"/>
          </a:p>
        </p:txBody>
      </p:sp>
    </p:spTree>
    <p:extLst>
      <p:ext uri="{BB962C8B-B14F-4D97-AF65-F5344CB8AC3E}">
        <p14:creationId xmlns:p14="http://schemas.microsoft.com/office/powerpoint/2010/main" val="23039227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5D63F-740C-4984-BD6E-FD99E6AAA72C}"/>
              </a:ext>
            </a:extLst>
          </p:cNvPr>
          <p:cNvSpPr>
            <a:spLocks noGrp="1"/>
          </p:cNvSpPr>
          <p:nvPr>
            <p:ph type="title"/>
          </p:nvPr>
        </p:nvSpPr>
        <p:spPr/>
        <p:txBody>
          <a:bodyPr>
            <a:normAutofit/>
          </a:bodyPr>
          <a:lstStyle/>
          <a:p>
            <a:r>
              <a:rPr lang="en-GB" sz="3500" b="0" i="0" u="none" strike="noStrike" baseline="0" dirty="0">
                <a:solidFill>
                  <a:srgbClr val="0070C0"/>
                </a:solidFill>
                <a:latin typeface="cmss12" panose="020B0500000000000000" pitchFamily="34" charset="0"/>
              </a:rPr>
              <a:t>Writing the Essay</a:t>
            </a:r>
            <a:endParaRPr lang="en-GB" sz="3500" dirty="0"/>
          </a:p>
        </p:txBody>
      </p:sp>
      <p:sp>
        <p:nvSpPr>
          <p:cNvPr id="3" name="Content Placeholder 2">
            <a:extLst>
              <a:ext uri="{FF2B5EF4-FFF2-40B4-BE49-F238E27FC236}">
                <a16:creationId xmlns:a16="http://schemas.microsoft.com/office/drawing/2014/main" id="{3DA24E54-8B43-4D1D-A087-ED3DFAA5DE94}"/>
              </a:ext>
            </a:extLst>
          </p:cNvPr>
          <p:cNvSpPr>
            <a:spLocks noGrp="1"/>
          </p:cNvSpPr>
          <p:nvPr>
            <p:ph idx="1"/>
          </p:nvPr>
        </p:nvSpPr>
        <p:spPr/>
        <p:txBody>
          <a:bodyPr>
            <a:normAutofit fontScale="92500" lnSpcReduction="10000"/>
          </a:bodyPr>
          <a:lstStyle/>
          <a:p>
            <a:r>
              <a:rPr lang="en-GB" dirty="0"/>
              <a:t>• Structure the essay like an economics paper</a:t>
            </a:r>
          </a:p>
          <a:p>
            <a:pPr lvl="1"/>
            <a:r>
              <a:rPr lang="en-GB" dirty="0"/>
              <a:t>Introduction: explain why the question is important; review the contribution of your paper</a:t>
            </a:r>
          </a:p>
          <a:p>
            <a:pPr lvl="1"/>
            <a:r>
              <a:rPr lang="en-GB" dirty="0"/>
              <a:t>Literature review: connection of paper to bigger question; what do we already know and what don’t we know; how does your paper relate to existing literature</a:t>
            </a:r>
          </a:p>
          <a:p>
            <a:pPr lvl="1"/>
            <a:r>
              <a:rPr lang="en-GB" dirty="0"/>
              <a:t>Empirical paper</a:t>
            </a:r>
          </a:p>
          <a:p>
            <a:pPr lvl="2"/>
            <a:r>
              <a:rPr lang="en-GB" dirty="0"/>
              <a:t>Data: what data do you use; define key variables; explain advantages and limitations of dataset</a:t>
            </a:r>
          </a:p>
          <a:p>
            <a:pPr lvl="2"/>
            <a:r>
              <a:rPr lang="en-GB" dirty="0"/>
              <a:t>Empirical methods: how will you analyse the data; what are the strengths and weakness of this approach; are estimates causal</a:t>
            </a:r>
          </a:p>
          <a:p>
            <a:pPr lvl="2"/>
            <a:r>
              <a:rPr lang="en-GB" dirty="0"/>
              <a:t>Empirical analysis: present results; interpret results</a:t>
            </a:r>
          </a:p>
          <a:p>
            <a:pPr lvl="1"/>
            <a:r>
              <a:rPr lang="en-GB" dirty="0"/>
              <a:t>Theoretical paper</a:t>
            </a:r>
          </a:p>
          <a:p>
            <a:pPr lvl="2"/>
            <a:r>
              <a:rPr lang="en-GB" dirty="0"/>
              <a:t>Model environment: set-up model; explain and motivate key assumptions</a:t>
            </a:r>
          </a:p>
          <a:p>
            <a:pPr lvl="2"/>
            <a:r>
              <a:rPr lang="en-GB" dirty="0"/>
              <a:t>Findings: theoretical/simulation results; interpret results</a:t>
            </a:r>
          </a:p>
          <a:p>
            <a:pPr lvl="1"/>
            <a:r>
              <a:rPr lang="en-GB" dirty="0"/>
              <a:t>Conclusions: what did you find; what are the limitations of your analysis; what is the “next question” that comes from the paper</a:t>
            </a:r>
          </a:p>
          <a:p>
            <a:endParaRPr lang="en-GB" dirty="0"/>
          </a:p>
        </p:txBody>
      </p:sp>
    </p:spTree>
    <p:extLst>
      <p:ext uri="{BB962C8B-B14F-4D97-AF65-F5344CB8AC3E}">
        <p14:creationId xmlns:p14="http://schemas.microsoft.com/office/powerpoint/2010/main" val="39905204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5D63F-740C-4984-BD6E-FD99E6AAA72C}"/>
              </a:ext>
            </a:extLst>
          </p:cNvPr>
          <p:cNvSpPr>
            <a:spLocks noGrp="1"/>
          </p:cNvSpPr>
          <p:nvPr>
            <p:ph type="title"/>
          </p:nvPr>
        </p:nvSpPr>
        <p:spPr/>
        <p:txBody>
          <a:bodyPr>
            <a:normAutofit/>
          </a:bodyPr>
          <a:lstStyle/>
          <a:p>
            <a:r>
              <a:rPr lang="en-GB" sz="3500" b="1" i="0" u="none" strike="noStrike" baseline="0" dirty="0">
                <a:solidFill>
                  <a:srgbClr val="0070C0"/>
                </a:solidFill>
                <a:latin typeface="cmss12" panose="020B0500000000000000" pitchFamily="34" charset="0"/>
              </a:rPr>
              <a:t>Two Types of Essays - Independent</a:t>
            </a:r>
            <a:endParaRPr lang="en-GB" sz="3500" b="1" dirty="0"/>
          </a:p>
        </p:txBody>
      </p:sp>
      <p:sp>
        <p:nvSpPr>
          <p:cNvPr id="3" name="Content Placeholder 2">
            <a:extLst>
              <a:ext uri="{FF2B5EF4-FFF2-40B4-BE49-F238E27FC236}">
                <a16:creationId xmlns:a16="http://schemas.microsoft.com/office/drawing/2014/main" id="{3DA24E54-8B43-4D1D-A087-ED3DFAA5DE94}"/>
              </a:ext>
            </a:extLst>
          </p:cNvPr>
          <p:cNvSpPr>
            <a:spLocks noGrp="1"/>
          </p:cNvSpPr>
          <p:nvPr>
            <p:ph idx="1"/>
          </p:nvPr>
        </p:nvSpPr>
        <p:spPr/>
        <p:txBody>
          <a:bodyPr>
            <a:normAutofit/>
          </a:bodyPr>
          <a:lstStyle/>
          <a:p>
            <a:r>
              <a:rPr lang="en-GB" dirty="0"/>
              <a:t>Independent Research Essay</a:t>
            </a:r>
          </a:p>
          <a:p>
            <a:pPr>
              <a:buClr>
                <a:schemeClr val="tx1"/>
              </a:buClr>
              <a:buFont typeface="Arial" panose="020B0604020202020204" pitchFamily="34" charset="0"/>
              <a:buChar char="•"/>
            </a:pPr>
            <a:r>
              <a:rPr lang="en-GB" dirty="0"/>
              <a:t> Define your own question!</a:t>
            </a:r>
          </a:p>
          <a:p>
            <a:pPr>
              <a:buClr>
                <a:schemeClr val="tx1"/>
              </a:buClr>
              <a:buFont typeface="Arial" panose="020B0604020202020204" pitchFamily="34" charset="0"/>
              <a:buChar char="•"/>
            </a:pPr>
            <a:r>
              <a:rPr lang="en-GB" dirty="0"/>
              <a:t> Get agreement from one of us at an early stage if you want to choose this option.</a:t>
            </a:r>
          </a:p>
          <a:p>
            <a:pPr>
              <a:buClr>
                <a:schemeClr val="tx1"/>
              </a:buClr>
              <a:buFont typeface="Arial" panose="020B0604020202020204" pitchFamily="34" charset="0"/>
              <a:buChar char="•"/>
            </a:pPr>
            <a:r>
              <a:rPr lang="en-GB" dirty="0"/>
              <a:t> Two or three 20 minute meetings with supervisor in Winter Term</a:t>
            </a:r>
          </a:p>
          <a:p>
            <a:pPr>
              <a:buClr>
                <a:schemeClr val="tx1"/>
              </a:buClr>
              <a:buFont typeface="Arial" panose="020B0604020202020204" pitchFamily="34" charset="0"/>
              <a:buChar char="•"/>
            </a:pPr>
            <a:r>
              <a:rPr lang="en-GB" sz="2000" dirty="0">
                <a:effectLst/>
                <a:latin typeface="Calibri" panose="020F0502020204030204" pitchFamily="34" charset="0"/>
                <a:ea typeface="Calibri" panose="020F0502020204030204" pitchFamily="34" charset="0"/>
                <a:cs typeface="Times New Roman" panose="02020603050405020304" pitchFamily="18" charset="0"/>
              </a:rPr>
              <a:t> Proposal submission deadline: 4pm Friday 12 December 2025</a:t>
            </a:r>
            <a:endParaRPr lang="en-GB" dirty="0"/>
          </a:p>
          <a:p>
            <a:endParaRPr lang="en-GB" dirty="0"/>
          </a:p>
          <a:p>
            <a:pPr lvl="1">
              <a:buClr>
                <a:schemeClr val="tx1"/>
              </a:buClr>
              <a:buFont typeface="Arial" panose="020B0604020202020204" pitchFamily="34" charset="0"/>
              <a:buChar char="•"/>
            </a:pPr>
            <a:endParaRPr lang="en-GB" dirty="0"/>
          </a:p>
          <a:p>
            <a:endParaRPr lang="en-GB" dirty="0"/>
          </a:p>
          <a:p>
            <a:endParaRPr lang="en-GB" dirty="0"/>
          </a:p>
          <a:p>
            <a:endParaRPr lang="en-GB" dirty="0"/>
          </a:p>
          <a:p>
            <a:endParaRPr lang="en-GB" dirty="0"/>
          </a:p>
          <a:p>
            <a:endParaRPr lang="en-GB" dirty="0"/>
          </a:p>
        </p:txBody>
      </p:sp>
    </p:spTree>
    <p:extLst>
      <p:ext uri="{BB962C8B-B14F-4D97-AF65-F5344CB8AC3E}">
        <p14:creationId xmlns:p14="http://schemas.microsoft.com/office/powerpoint/2010/main" val="28273443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5D63F-740C-4984-BD6E-FD99E6AAA72C}"/>
              </a:ext>
            </a:extLst>
          </p:cNvPr>
          <p:cNvSpPr>
            <a:spLocks noGrp="1"/>
          </p:cNvSpPr>
          <p:nvPr>
            <p:ph type="title"/>
          </p:nvPr>
        </p:nvSpPr>
        <p:spPr/>
        <p:txBody>
          <a:bodyPr>
            <a:normAutofit/>
          </a:bodyPr>
          <a:lstStyle/>
          <a:p>
            <a:r>
              <a:rPr lang="en-GB" sz="3500" b="1" i="0" u="none" strike="noStrike" baseline="0" dirty="0">
                <a:solidFill>
                  <a:srgbClr val="0070C0"/>
                </a:solidFill>
                <a:latin typeface="cmss12" panose="020B0500000000000000" pitchFamily="34" charset="0"/>
              </a:rPr>
              <a:t>Two Types of Essays - Structured</a:t>
            </a:r>
            <a:endParaRPr lang="en-GB" sz="3500" b="1" dirty="0"/>
          </a:p>
        </p:txBody>
      </p:sp>
      <p:sp>
        <p:nvSpPr>
          <p:cNvPr id="3" name="Content Placeholder 2">
            <a:extLst>
              <a:ext uri="{FF2B5EF4-FFF2-40B4-BE49-F238E27FC236}">
                <a16:creationId xmlns:a16="http://schemas.microsoft.com/office/drawing/2014/main" id="{3DA24E54-8B43-4D1D-A087-ED3DFAA5DE94}"/>
              </a:ext>
            </a:extLst>
          </p:cNvPr>
          <p:cNvSpPr>
            <a:spLocks noGrp="1"/>
          </p:cNvSpPr>
          <p:nvPr>
            <p:ph idx="1"/>
          </p:nvPr>
        </p:nvSpPr>
        <p:spPr/>
        <p:txBody>
          <a:bodyPr/>
          <a:lstStyle/>
          <a:p>
            <a:pPr marL="0" indent="0">
              <a:buClr>
                <a:schemeClr val="tx1"/>
              </a:buClr>
              <a:buNone/>
            </a:pPr>
            <a:r>
              <a:rPr lang="en-GB" dirty="0"/>
              <a:t>Structured Research Assignment</a:t>
            </a:r>
          </a:p>
          <a:p>
            <a:pPr marL="0" indent="0">
              <a:buClr>
                <a:schemeClr val="tx1"/>
              </a:buClr>
              <a:buNone/>
            </a:pPr>
            <a:r>
              <a:rPr lang="en-GB" dirty="0"/>
              <a:t>• Answer question based on the prompts we provide</a:t>
            </a:r>
          </a:p>
          <a:p>
            <a:pPr>
              <a:buClrTx/>
              <a:buFont typeface="Arial" panose="020B0604020202020204" pitchFamily="34" charset="0"/>
              <a:buChar char="•"/>
            </a:pPr>
            <a:r>
              <a:rPr lang="en-GB" dirty="0"/>
              <a:t> Two prompts available: one for international trade, one for international macroeconomics</a:t>
            </a:r>
          </a:p>
          <a:p>
            <a:pPr>
              <a:buClrTx/>
              <a:buFont typeface="Arial" panose="020B0604020202020204" pitchFamily="34" charset="0"/>
              <a:buChar char="•"/>
            </a:pPr>
            <a:r>
              <a:rPr lang="en-GB" dirty="0"/>
              <a:t> Two or three 20 minute meetings with supervisor in Winter Term</a:t>
            </a:r>
          </a:p>
          <a:p>
            <a:pPr>
              <a:buClrTx/>
              <a:buFont typeface="Arial" panose="020B0604020202020204" pitchFamily="34" charset="0"/>
              <a:buChar char="•"/>
            </a:pPr>
            <a:r>
              <a:rPr lang="en-GB" dirty="0"/>
              <a:t> Proposal submission deadline: 4pm Friday 30 January 2026</a:t>
            </a:r>
          </a:p>
        </p:txBody>
      </p:sp>
    </p:spTree>
    <p:extLst>
      <p:ext uri="{BB962C8B-B14F-4D97-AF65-F5344CB8AC3E}">
        <p14:creationId xmlns:p14="http://schemas.microsoft.com/office/powerpoint/2010/main" val="18332949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9E714-EB3F-4B0D-8493-C153A63889EB}"/>
              </a:ext>
            </a:extLst>
          </p:cNvPr>
          <p:cNvSpPr>
            <a:spLocks noGrp="1"/>
          </p:cNvSpPr>
          <p:nvPr>
            <p:ph type="title"/>
          </p:nvPr>
        </p:nvSpPr>
        <p:spPr/>
        <p:txBody>
          <a:bodyPr>
            <a:normAutofit/>
          </a:bodyPr>
          <a:lstStyle/>
          <a:p>
            <a:r>
              <a:rPr lang="en-GB" sz="3500" b="1" dirty="0">
                <a:solidFill>
                  <a:srgbClr val="0070C0"/>
                </a:solidFill>
              </a:rPr>
              <a:t>Essay Surgeries</a:t>
            </a:r>
          </a:p>
        </p:txBody>
      </p:sp>
      <p:sp>
        <p:nvSpPr>
          <p:cNvPr id="3" name="Content Placeholder 2">
            <a:extLst>
              <a:ext uri="{FF2B5EF4-FFF2-40B4-BE49-F238E27FC236}">
                <a16:creationId xmlns:a16="http://schemas.microsoft.com/office/drawing/2014/main" id="{02755F8B-E2E7-4E24-92F0-62655984C675}"/>
              </a:ext>
            </a:extLst>
          </p:cNvPr>
          <p:cNvSpPr>
            <a:spLocks noGrp="1"/>
          </p:cNvSpPr>
          <p:nvPr>
            <p:ph idx="1"/>
          </p:nvPr>
        </p:nvSpPr>
        <p:spPr/>
        <p:txBody>
          <a:bodyPr/>
          <a:lstStyle/>
          <a:p>
            <a:pPr>
              <a:lnSpc>
                <a:spcPct val="107000"/>
              </a:lnSpc>
              <a:spcAft>
                <a:spcPts val="800"/>
              </a:spcAft>
            </a:pPr>
            <a:r>
              <a:rPr lang="en-GB" sz="20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Regardless of the essay format students will be allowed to ask questions about implementation at class teacher office hours and at the essay surgeries that will run from the end of AT until the beginning of ST.</a:t>
            </a:r>
            <a:endParaRPr lang="en-GB" sz="2000" dirty="0">
              <a:effectLst/>
              <a:latin typeface="Calibri" panose="020F0502020204030204" pitchFamily="34" charset="0"/>
              <a:ea typeface="Calibri" panose="020F0502020204030204" pitchFamily="34" charset="0"/>
              <a:cs typeface="Times New Roman" panose="02020603050405020304" pitchFamily="18" charset="0"/>
            </a:endParaRPr>
          </a:p>
          <a:p>
            <a:endParaRPr lang="en-GB" dirty="0"/>
          </a:p>
        </p:txBody>
      </p:sp>
    </p:spTree>
    <p:extLst>
      <p:ext uri="{BB962C8B-B14F-4D97-AF65-F5344CB8AC3E}">
        <p14:creationId xmlns:p14="http://schemas.microsoft.com/office/powerpoint/2010/main" val="34473950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9E714-EB3F-4B0D-8493-C153A63889EB}"/>
              </a:ext>
            </a:extLst>
          </p:cNvPr>
          <p:cNvSpPr>
            <a:spLocks noGrp="1"/>
          </p:cNvSpPr>
          <p:nvPr>
            <p:ph type="title"/>
          </p:nvPr>
        </p:nvSpPr>
        <p:spPr/>
        <p:txBody>
          <a:bodyPr>
            <a:normAutofit/>
          </a:bodyPr>
          <a:lstStyle/>
          <a:p>
            <a:r>
              <a:rPr lang="en-GB" sz="3500" b="1" dirty="0">
                <a:solidFill>
                  <a:srgbClr val="0070C0"/>
                </a:solidFill>
              </a:rPr>
              <a:t>Proposals</a:t>
            </a:r>
          </a:p>
        </p:txBody>
      </p:sp>
      <p:sp>
        <p:nvSpPr>
          <p:cNvPr id="3" name="Content Placeholder 2">
            <a:extLst>
              <a:ext uri="{FF2B5EF4-FFF2-40B4-BE49-F238E27FC236}">
                <a16:creationId xmlns:a16="http://schemas.microsoft.com/office/drawing/2014/main" id="{02755F8B-E2E7-4E24-92F0-62655984C675}"/>
              </a:ext>
            </a:extLst>
          </p:cNvPr>
          <p:cNvSpPr>
            <a:spLocks noGrp="1"/>
          </p:cNvSpPr>
          <p:nvPr>
            <p:ph idx="1"/>
          </p:nvPr>
        </p:nvSpPr>
        <p:spPr/>
        <p:txBody>
          <a:bodyPr/>
          <a:lstStyle/>
          <a:p>
            <a:r>
              <a:rPr lang="en-GB" dirty="0"/>
              <a:t>Proposals are not graded</a:t>
            </a:r>
          </a:p>
          <a:p>
            <a:r>
              <a:rPr lang="en-GB" dirty="0"/>
              <a:t>The proposal should around 1 page. </a:t>
            </a:r>
          </a:p>
          <a:p>
            <a:pPr marL="0" indent="0">
              <a:buNone/>
            </a:pPr>
            <a:r>
              <a:rPr lang="en-GB" dirty="0"/>
              <a:t>  It should be as short and precise as possible. </a:t>
            </a:r>
          </a:p>
          <a:p>
            <a:pPr marL="0" indent="0">
              <a:buNone/>
            </a:pPr>
            <a:r>
              <a:rPr lang="en-GB" dirty="0"/>
              <a:t>  The proposal should state:</a:t>
            </a:r>
          </a:p>
          <a:p>
            <a:pPr lvl="1">
              <a:buFont typeface="Arial" panose="020B0604020202020204" pitchFamily="34" charset="0"/>
              <a:buChar char="•"/>
            </a:pPr>
            <a:r>
              <a:rPr lang="en-GB" dirty="0"/>
              <a:t>Research question you hope to answer</a:t>
            </a:r>
          </a:p>
          <a:p>
            <a:pPr lvl="1">
              <a:buFont typeface="Arial" panose="020B0604020202020204" pitchFamily="34" charset="0"/>
              <a:buChar char="•"/>
            </a:pPr>
            <a:r>
              <a:rPr lang="en-GB" dirty="0"/>
              <a:t>Motivation for this question – what is the contribution relative to existing literature, why is it important</a:t>
            </a:r>
          </a:p>
          <a:p>
            <a:pPr lvl="1">
              <a:buFont typeface="Arial" panose="020B0604020202020204" pitchFamily="34" charset="0"/>
              <a:buChar char="•"/>
            </a:pPr>
            <a:r>
              <a:rPr lang="en-GB" dirty="0"/>
              <a:t>Outline of proposed methodology and implementation including data availability</a:t>
            </a:r>
          </a:p>
        </p:txBody>
      </p:sp>
    </p:spTree>
    <p:extLst>
      <p:ext uri="{BB962C8B-B14F-4D97-AF65-F5344CB8AC3E}">
        <p14:creationId xmlns:p14="http://schemas.microsoft.com/office/powerpoint/2010/main" val="4635343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9E714-EB3F-4B0D-8493-C153A63889EB}"/>
              </a:ext>
            </a:extLst>
          </p:cNvPr>
          <p:cNvSpPr>
            <a:spLocks noGrp="1"/>
          </p:cNvSpPr>
          <p:nvPr>
            <p:ph type="title"/>
          </p:nvPr>
        </p:nvSpPr>
        <p:spPr/>
        <p:txBody>
          <a:bodyPr>
            <a:normAutofit/>
          </a:bodyPr>
          <a:lstStyle/>
          <a:p>
            <a:r>
              <a:rPr lang="en-GB" sz="3500" b="1" i="0" u="none" strike="noStrike" baseline="0" dirty="0">
                <a:solidFill>
                  <a:srgbClr val="0070C0"/>
                </a:solidFill>
                <a:latin typeface="cmss12" panose="020B0500000000000000" pitchFamily="34" charset="0"/>
              </a:rPr>
              <a:t>Rules, Dates, and Guidelines</a:t>
            </a:r>
            <a:endParaRPr lang="en-GB" sz="3500" dirty="0"/>
          </a:p>
        </p:txBody>
      </p:sp>
      <p:sp>
        <p:nvSpPr>
          <p:cNvPr id="3" name="Content Placeholder 2">
            <a:extLst>
              <a:ext uri="{FF2B5EF4-FFF2-40B4-BE49-F238E27FC236}">
                <a16:creationId xmlns:a16="http://schemas.microsoft.com/office/drawing/2014/main" id="{02755F8B-E2E7-4E24-92F0-62655984C675}"/>
              </a:ext>
            </a:extLst>
          </p:cNvPr>
          <p:cNvSpPr>
            <a:spLocks noGrp="1"/>
          </p:cNvSpPr>
          <p:nvPr>
            <p:ph idx="1"/>
          </p:nvPr>
        </p:nvSpPr>
        <p:spPr/>
        <p:txBody>
          <a:bodyPr>
            <a:normAutofit fontScale="85000" lnSpcReduction="10000"/>
          </a:bodyPr>
          <a:lstStyle/>
          <a:p>
            <a:pPr>
              <a:spcAft>
                <a:spcPts val="170"/>
              </a:spcAft>
            </a:pPr>
            <a:r>
              <a:rPr lang="en-GB" sz="3100" dirty="0">
                <a:solidFill>
                  <a:schemeClr val="tx1"/>
                </a:solidFill>
                <a:effectLst/>
                <a:latin typeface="Calibri" panose="020F0502020204030204" pitchFamily="34" charset="0"/>
                <a:ea typeface="Calibri" panose="020F0502020204030204" pitchFamily="34" charset="0"/>
              </a:rPr>
              <a:t>Counts for 50% of marks for the course and 12.5% of your overall marks.  </a:t>
            </a:r>
          </a:p>
          <a:p>
            <a:pPr>
              <a:spcAft>
                <a:spcPts val="170"/>
              </a:spcAft>
            </a:pPr>
            <a:r>
              <a:rPr lang="en-GB" sz="3100" dirty="0">
                <a:solidFill>
                  <a:schemeClr val="tx1"/>
                </a:solidFill>
                <a:effectLst/>
                <a:latin typeface="Calibri" panose="020F0502020204030204" pitchFamily="34" charset="0"/>
                <a:ea typeface="Calibri" panose="020F0502020204030204" pitchFamily="34" charset="0"/>
              </a:rPr>
              <a:t>Maximum 6,000 words (as a guideline this is 14‐21 double spaced pages). </a:t>
            </a:r>
          </a:p>
          <a:p>
            <a:pPr>
              <a:spcAft>
                <a:spcPts val="170"/>
              </a:spcAft>
            </a:pPr>
            <a:r>
              <a:rPr lang="en-GB" sz="3100" dirty="0">
                <a:solidFill>
                  <a:schemeClr val="tx1"/>
                </a:solidFill>
                <a:effectLst/>
                <a:latin typeface="Calibri" panose="020F0502020204030204" pitchFamily="34" charset="0"/>
                <a:ea typeface="Calibri" panose="020F0502020204030204" pitchFamily="34" charset="0"/>
              </a:rPr>
              <a:t>Double spaced, 12 font size.  </a:t>
            </a:r>
          </a:p>
          <a:p>
            <a:pPr>
              <a:spcAft>
                <a:spcPts val="170"/>
              </a:spcAft>
            </a:pPr>
            <a:r>
              <a:rPr lang="en-GB" sz="3100" dirty="0">
                <a:solidFill>
                  <a:schemeClr val="tx1"/>
                </a:solidFill>
                <a:effectLst/>
                <a:latin typeface="Calibri" panose="020F0502020204030204" pitchFamily="34" charset="0"/>
                <a:ea typeface="Calibri" panose="020F0502020204030204" pitchFamily="34" charset="0"/>
              </a:rPr>
              <a:t>Abstract, footnotes, references and appendices do not count toward the word count</a:t>
            </a:r>
          </a:p>
          <a:p>
            <a:pPr>
              <a:spcAft>
                <a:spcPts val="170"/>
              </a:spcAft>
            </a:pPr>
            <a:r>
              <a:rPr lang="en-GB" sz="3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Essay Submission deadline: 4pm Tuesday 26 May 2026</a:t>
            </a:r>
          </a:p>
          <a:p>
            <a:endParaRPr lang="en-GB" dirty="0"/>
          </a:p>
        </p:txBody>
      </p:sp>
    </p:spTree>
    <p:extLst>
      <p:ext uri="{BB962C8B-B14F-4D97-AF65-F5344CB8AC3E}">
        <p14:creationId xmlns:p14="http://schemas.microsoft.com/office/powerpoint/2010/main" val="1447861947"/>
      </p:ext>
    </p:extLst>
  </p:cSld>
  <p:clrMapOvr>
    <a:masterClrMapping/>
  </p:clrMapOvr>
</p:sld>
</file>

<file path=ppt/theme/theme1.xml><?xml version="1.0" encoding="utf-8"?>
<a:theme xmlns:a="http://schemas.openxmlformats.org/drawingml/2006/main" name="RetrospectVTI">
  <a:themeElements>
    <a:clrScheme name="LSE Colour Palette">
      <a:dk1>
        <a:srgbClr val="000000"/>
      </a:dk1>
      <a:lt1>
        <a:srgbClr val="FFFFFF"/>
      </a:lt1>
      <a:dk2>
        <a:srgbClr val="A3AAAE"/>
      </a:dk2>
      <a:lt2>
        <a:srgbClr val="D0D3D3"/>
      </a:lt2>
      <a:accent1>
        <a:srgbClr val="F33030"/>
      </a:accent1>
      <a:accent2>
        <a:srgbClr val="5B325F"/>
      </a:accent2>
      <a:accent3>
        <a:srgbClr val="6BABE5"/>
      </a:accent3>
      <a:accent4>
        <a:srgbClr val="FFCE00"/>
      </a:accent4>
      <a:accent5>
        <a:srgbClr val="009383"/>
      </a:accent5>
      <a:accent6>
        <a:srgbClr val="70AD47"/>
      </a:accent6>
      <a:hlink>
        <a:srgbClr val="5B325F"/>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ABE3C30C-0FC0-4450-828E-52DE70F1BCCB}" vid="{A6E2497D-935A-4CFD-B9FD-6DCB15FA68BF}"/>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31F006B4-A9E1-4F39-85C8-FB836F919348}">
  <ds:schemaRefs>
    <ds:schemaRef ds:uri="http://schemas.microsoft.com/sharepoint/v3/contenttype/forms"/>
  </ds:schemaRefs>
</ds:datastoreItem>
</file>

<file path=customXml/itemProps2.xml><?xml version="1.0" encoding="utf-8"?>
<ds:datastoreItem xmlns:ds="http://schemas.openxmlformats.org/officeDocument/2006/customXml" ds:itemID="{16377351-63A1-4C2E-8C9A-66CDD70F16A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F3CD65D-61A5-43C9-A837-6EC73C7DA8A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{07B7F602-36A9-4E22-A6E9-121429E6CFBB}tf11437505_win32</Template>
  <TotalTime>4392</TotalTime>
  <Words>1267</Words>
  <Application>Microsoft Office PowerPoint</Application>
  <PresentationFormat>Widescreen</PresentationFormat>
  <Paragraphs>136</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Calibri Light</vt:lpstr>
      <vt:lpstr>cmss12</vt:lpstr>
      <vt:lpstr>RetrospectVTI</vt:lpstr>
      <vt:lpstr>EC421 Extended Essay: Information Session</vt:lpstr>
      <vt:lpstr>Goals of the Essay: Important but limited</vt:lpstr>
      <vt:lpstr>Goals of the Essay: Important but limited</vt:lpstr>
      <vt:lpstr>Concerns</vt:lpstr>
      <vt:lpstr>Concerns</vt:lpstr>
      <vt:lpstr>Concerns</vt:lpstr>
      <vt:lpstr>Essay Preparation</vt:lpstr>
      <vt:lpstr>Essay Preparation – Step 1</vt:lpstr>
      <vt:lpstr>Essay Preparation: Step 1 – Literature Review</vt:lpstr>
      <vt:lpstr>Step 1 – Literature Review</vt:lpstr>
      <vt:lpstr>Essay Preparation: Step Two </vt:lpstr>
      <vt:lpstr> Step Two – An Extension </vt:lpstr>
      <vt:lpstr>Step Two - Extension </vt:lpstr>
      <vt:lpstr>Essay Preparation: Step Three  A Big Extension</vt:lpstr>
      <vt:lpstr>Writing the Essay</vt:lpstr>
      <vt:lpstr>Two Types of Essays - Independent</vt:lpstr>
      <vt:lpstr>Two Types of Essays - Structured</vt:lpstr>
      <vt:lpstr>Essay Surgeries</vt:lpstr>
      <vt:lpstr>Proposals</vt:lpstr>
      <vt:lpstr>Rules, Dates, and Guidelines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Lorem Ipsum</dc:title>
  <dc:creator>Taverner,E</dc:creator>
  <cp:lastModifiedBy>Thomas Sampson</cp:lastModifiedBy>
  <cp:revision>471</cp:revision>
  <dcterms:created xsi:type="dcterms:W3CDTF">2021-07-08T13:58:53Z</dcterms:created>
  <dcterms:modified xsi:type="dcterms:W3CDTF">2025-11-18T17:12:39Z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